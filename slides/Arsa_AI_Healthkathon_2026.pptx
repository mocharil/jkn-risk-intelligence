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Halo, kami tim [nama tim], dan ini Arsa AI.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 [nama ketua], ketua tim, berperan sebagai [peran]. Saya berpengalaman di [satu hal relevan, mis. membangun platform AI dan arsitektur cloud]. Di sebelah saya [nama anggota], [peran], yang berpengalaman di [satu hal relevan, mis. data science dan analisis data]. [Jika ada anggota ketiga: nama, peran, satu kalimat.] Kami membangun Arsa AI bersama, dari data sampai tampilan.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Solusi kami bernama Arsa AI. Arsa AI membantu verifikator BPJS memeriksa klaim berisiko dengan bukti yang bisa dicek, supaya waktu pemeriksaan tertuju pada klaim yang paling penting. Caranya: delapan detektor menandai klaim yang janggal. Setiap temuan membawa bukti, misalnya dokumen medis yang bertentangan dengan tagihan, selisih tagihan terhadap klaim sejenis, dan klaim lain yang narasinya mirip. AI hanya menjelaskan, dan selalu mengutip sumber. Keputusan tetap di tangan manusia. Ada tiga tujuan kami. Pertama, memusatkan pemeriksaan pada kasus prioritas, bukan seluruh klaim. Kedua, memastikan setiap temuan bersitasi. Ketiga, mencatat setiap keputusan di rantai audit yang tidak bisa diubah. Jadi Arsa AI bukan dasbor, dan bukan kotak hitam yang hanya memberi skor.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Persoalannya bukan kurangnya peringatan. Sistem yang ada menghasilkan banyak peringatan tanpa konteks, sehingga verifikator tetap membuka berkas satu per satu. Skalanya besar. Menurut statistik resmi BPJS tahun 2018 yang kami pakai, ada sekitar 208 juta peserta JKN, 11,1 juta admisi rawat inap tingkat lanjut, dan 2.511 rumah sakit dan fasilitas rujukan yang bekerja sama. Rata-rata biaya klaim sekitar 4,75 juta rupiah per admisi. Dengan skala itu, pemeriksaan harus dipusatkan pada klaim yang paling perlu, dan setiap temuan harus bisa dibuktikan.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Dampaknya kami ukur langsung di aplikasi. Dari 1.503 klaim, verifikator hanya perlu memulai dari 65 kasus prioritas, atau turun sekitar 96 persen beban awal. Setiap temuan membawa bukti: 97 persen temuan memuat sitasi bukti yang valid. Pada data sintetis berlabel, detektor menangkap sekitar 90 persen anomali yang kami sisipkan, dan hanya 2,3 persen klaim normal yang ikut ditandai. Perlu kami tegaskan, angka ini diukur pada data sintetis, bukan klaim riil, dan itu kami tulis jelas di aplikasinya.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Alurnya lima langkah. Satu, input: berkas klaim dari rumah sakit dalam CSV, Excel, atau JSON, atau data sampel BPJS. Dua, proses: identitas pasien langsung disamarkan di memori, kolom dipetakan ke skema standar, dan baris yang tidak valid ditolak lengkap dengan alasannya. Tiga, analisis: delapan detektor memeriksa tiap klaim, dibandingkan dengan klaim sejenis menurut diagnosis, kelas rawat, dan provinsi, lalu digabung menjadi satu skor. Empat, output: antrean kasus prioritas lengkap dengan bukti, dan dosier PDF. Lima, tindak lanjut: verifikator menetapkan status dan wajib menulis alasan, supervisor memutuskan akhir, dan semuanya tercatat di rantai audit. Pengguna kami ada tiga peran: investigator, supervisor, dan administrator. Data yang kami pakai adalah statistik resmi BPJS dan data klaim sintetis berlabel, tanpa data peserta riil.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 sampai 0:35, Command Center] Sekarang kami tunjukkan aplikasinya. Ini Command Center. Ada 1.503 klaim yang dianalisis, dan 65 di antaranya perlu diperiksa. Peta ini menunjukkan skor risiko tiap provinsi, makin hijau pekat makin tinggi. Di kanan ada ringkasan temuan, faskes dan provinsi yang paling menonjol, dan radar yang menunjukkan jenis temuan mana yang bergeser dalam dua minggu terakhir.</a:t>
            </a:r>
          </a:p>
          <a:p/>
          <a:p>
            <a:r>
              <a:t>[0:35 sampai 1:05, Pemeriksaan Klaim] Di Pemeriksaan Klaim, verifikator tidak membuka 1.503 berkas. Ia mulai dari kasus dengan skor tertinggi. Saya filter jenis temuan Upcoding, dan daftarnya langsung mengerucut.</a:t>
            </a:r>
          </a:p>
          <a:p/>
          <a:p>
            <a:r>
              <a:t>[1:05 sampai 2:00, detail kasus teratas] Kita buka kasus teratas. Skornya 99, dan ada alasannya. Pada garis ini terlihat tagihan sekitar 16,3 juta rupiah, jauh di atas median klaim sejenis sekitar 5,7 juta, dan di atas rerata nasional BPJS. Di tab Papan Bukti, ketiga dokumen medis bertentangan dengan tingkat keparahan yang ditagihkan: catatan menyebut pasien stabil, sedangkan tagihannya setara kasus berat. Di tab Klaim Serupa ada klaim lain yang narasinya hampir sama. Jadi verifikator melihat bukti, bukan hanya angka.</a:t>
            </a:r>
          </a:p>
          <a:p/>
          <a:p>
            <a:r>
              <a:t>[2:00 sampai 2:30, Copilot] Sekarang Copilot. Saya tanya: bandingkan risiko DKI Jakarta dan Jawa Timur. Jawabannya ringkas, dan setiap pernyataan mengutip sumber. Peta di bawahnya langsung menunjukkan kedua provinsi, lengkap dengan skor, jumlah klaim, dan eksposur. Kalau sebuah kalimat tidak punya sumber yang sah, sistem menolaknya.</a:t>
            </a:r>
          </a:p>
          <a:p/>
          <a:p>
            <a:r>
              <a:t>[2:30 sampai 3:00, keputusan dan unggah] Verifikator lalu menetapkan status dan menulis alasan, dan dosier PDF bisa diunduh untuk dibawa ke rapat. Kami juga bisa memasukkan data baru. Saya unggah berkas Excel kecil: kolomnya dipetakan otomatis, identitas pasien disamarkan, dan baris yang bermasalah ditolak dengan alasannya. Semua langkah ini tercatat di jejak audit.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Empat fitur utama. Pertama, Command Center dan peta risiko: menunjukkan di mana risiko menumpuk, jadi tim tidak mencari manual. Kedua, pemeriksaan klaim dengan bukti: skor per detektor, posisi tagihan terhadap klaim sejenis, dokumen yang bertentangan, dan klaim serupa; ini menjawab masalah peringatan tanpa konteks. Ketiga, Copilot bersitasi: tanya jawab yang setiap kalimatnya harus mengutip sumber, dan jawaban yang tidak lolos validasi diganti jawaban berbasis aturan; ini menjawab risiko AI yang berhalusinasi, dan peta serta grafik ikut tampil di jawaban. Keempat, unggah dataset, privasi, dan audit: data baru masuk dengan pemetaan otomatis yang dikonfirmasi manusia, identitas disamarkan, dan setiap keputusan tercatat di rantai SHA-256 yang hanya bisa ditambah.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riil JKN tidak kami pakai. Kami memakai statistik resmi BPJS dan data klaim sintetis berlabel yang dibangkitkan dari statistik itu.</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Identitas pasien disamarkan sebelum disimpan, ada tiga peran dengan hak berbeda, dan setiap keputusan masuk rantai audit yang tidak bisa diubah.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Yang sudah kami uji: seratus tiga puluh tujuh tes otomatis, alur unggah berkas, dan data acuan BPJS. Yang belum: validasi pada klaim riil. Itu kami sebut terbuka.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Selanjutnya tiga tahap: pilot terbatas dengan data teranonimkan atas izin resmi, kalibrasi dengan label investigasi nyata, lalu integrasi ke alur verifikasi. Tiap tahap diukur dengan indikator yang sama.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Terima kasih. Arsa AI tidak menggantikan verifikator. Ia membuktikan klaim mana yang layak diperiksa. Tautan prototype dan repositori ada di layar.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rsa_logo.png"/>
          <p:cNvPicPr>
            <a:picLocks noChangeAspect="1"/>
          </p:cNvPicPr>
          <p:nvPr/>
        </p:nvPicPr>
        <p:blipFill>
          <a:blip r:embed="rId2"/>
          <a:stretch>
            <a:fillRect/>
          </a:stretch>
        </p:blipFill>
        <p:spPr>
          <a:xfrm>
            <a:off x="457200" y="320040"/>
            <a:ext cx="592263" cy="457200"/>
          </a:xfrm>
          <a:prstGeom prst="rect">
            <a:avLst/>
          </a:prstGeom>
        </p:spPr>
      </p:pic>
      <p:sp>
        <p:nvSpPr>
          <p:cNvPr id="3" name="TextBox 2"/>
          <p:cNvSpPr txBox="1"/>
          <p:nvPr/>
        </p:nvSpPr>
        <p:spPr>
          <a:xfrm>
            <a:off x="1051560" y="384048"/>
            <a:ext cx="3657600" cy="365760"/>
          </a:xfrm>
          <a:prstGeom prst="rect">
            <a:avLst/>
          </a:prstGeom>
          <a:noFill/>
        </p:spPr>
        <p:txBody>
          <a:bodyPr wrap="square" anchor="t" lIns="0" rIns="0" tIns="0" bIns="0">
            <a:spAutoFit/>
          </a:bodyPr>
          <a:lstStyle/>
          <a:p>
            <a:pPr algn="l">
              <a:spcAft>
                <a:spcPts val="600"/>
              </a:spcAft>
            </a:pPr>
            <a:r>
              <a:rPr sz="1800" b="1">
                <a:solidFill>
                  <a:srgbClr val="0B291C"/>
                </a:solidFill>
                <a:latin typeface="IBM Plex Sans"/>
              </a:rPr>
              <a:t>Arsa AI</a:t>
            </a:r>
          </a:p>
        </p:txBody>
      </p:sp>
      <p:sp>
        <p:nvSpPr>
          <p:cNvPr id="4" name="TextBox 3"/>
          <p:cNvSpPr txBox="1"/>
          <p:nvPr/>
        </p:nvSpPr>
        <p:spPr>
          <a:xfrm>
            <a:off x="7589520" y="384048"/>
            <a:ext cx="4114800" cy="365760"/>
          </a:xfrm>
          <a:prstGeom prst="rect">
            <a:avLst/>
          </a:prstGeom>
          <a:noFill/>
        </p:spPr>
        <p:txBody>
          <a:bodyPr wrap="square" anchor="t" lIns="0" rIns="0" tIns="0" bIns="0">
            <a:spAutoFit/>
          </a:bodyPr>
          <a:lstStyle/>
          <a:p>
            <a:pPr algn="r">
              <a:spcAft>
                <a:spcPts val="600"/>
              </a:spcAft>
            </a:pPr>
            <a:r>
              <a:rPr sz="1400" b="0">
                <a:solidFill>
                  <a:srgbClr val="475B53"/>
                </a:solidFill>
                <a:latin typeface="IBM Plex Sans"/>
              </a:rPr>
              <a:t>Healthkathon 2026  ·  Detect Smarter, Protect JKN</a:t>
            </a:r>
          </a:p>
        </p:txBody>
      </p:sp>
      <p:sp>
        <p:nvSpPr>
          <p:cNvPr id="5" name="TextBox 4"/>
          <p:cNvSpPr txBox="1"/>
          <p:nvPr/>
        </p:nvSpPr>
        <p:spPr>
          <a:xfrm>
            <a:off x="11155680" y="6400800"/>
            <a:ext cx="640080" cy="274320"/>
          </a:xfrm>
          <a:prstGeom prst="rect">
            <a:avLst/>
          </a:prstGeom>
          <a:noFill/>
        </p:spPr>
        <p:txBody>
          <a:bodyPr wrap="square" anchor="t" lIns="0" rIns="0" tIns="0" bIns="0">
            <a:spAutoFit/>
          </a:bodyPr>
          <a:lstStyle/>
          <a:p>
            <a:pPr algn="r">
              <a:spcAft>
                <a:spcPts val="600"/>
              </a:spcAft>
            </a:pPr>
            <a:r>
              <a:rPr sz="1400" b="0">
                <a:solidFill>
                  <a:srgbClr val="475B53"/>
                </a:solidFill>
                <a:latin typeface="IBM Plex Sans"/>
              </a:rPr>
              <a:t>1</a:t>
            </a:r>
          </a:p>
        </p:txBody>
      </p:sp>
      <p:sp>
        <p:nvSpPr>
          <p:cNvPr id="6" name="TextBox 5"/>
          <p:cNvSpPr txBox="1"/>
          <p:nvPr/>
        </p:nvSpPr>
        <p:spPr>
          <a:xfrm>
            <a:off x="457200" y="1828800"/>
            <a:ext cx="5669280" cy="1463040"/>
          </a:xfrm>
          <a:prstGeom prst="rect">
            <a:avLst/>
          </a:prstGeom>
          <a:noFill/>
        </p:spPr>
        <p:txBody>
          <a:bodyPr wrap="square" anchor="t" lIns="0" rIns="0" tIns="0" bIns="0">
            <a:spAutoFit/>
          </a:bodyPr>
          <a:lstStyle/>
          <a:p>
            <a:pPr algn="l">
              <a:spcAft>
                <a:spcPts val="600"/>
              </a:spcAft>
            </a:pPr>
            <a:r>
              <a:rPr sz="6600" b="1">
                <a:solidFill>
                  <a:srgbClr val="0B291C"/>
                </a:solidFill>
                <a:latin typeface="IBM Plex Sans"/>
              </a:rPr>
              <a:t>Arsa AI</a:t>
            </a:r>
          </a:p>
        </p:txBody>
      </p:sp>
      <p:sp>
        <p:nvSpPr>
          <p:cNvPr id="7" name="TextBox 6"/>
          <p:cNvSpPr txBox="1"/>
          <p:nvPr/>
        </p:nvSpPr>
        <p:spPr>
          <a:xfrm>
            <a:off x="457200" y="3017520"/>
            <a:ext cx="5669280" cy="822960"/>
          </a:xfrm>
          <a:prstGeom prst="rect">
            <a:avLst/>
          </a:prstGeom>
          <a:noFill/>
        </p:spPr>
        <p:txBody>
          <a:bodyPr wrap="square" anchor="t" lIns="0" rIns="0" tIns="0" bIns="0">
            <a:spAutoFit/>
          </a:bodyPr>
          <a:lstStyle/>
          <a:p>
            <a:pPr algn="l">
              <a:spcAft>
                <a:spcPts val="600"/>
              </a:spcAft>
            </a:pPr>
            <a:r>
              <a:rPr sz="3400" b="1">
                <a:solidFill>
                  <a:srgbClr val="007A3A"/>
                </a:solidFill>
                <a:latin typeface="IBM Plex Sans"/>
              </a:rPr>
              <a:t>JKN Risk Intelligence</a:t>
            </a:r>
          </a:p>
        </p:txBody>
      </p:sp>
      <p:sp>
        <p:nvSpPr>
          <p:cNvPr id="8" name="TextBox 7"/>
          <p:cNvSpPr txBox="1"/>
          <p:nvPr/>
        </p:nvSpPr>
        <p:spPr>
          <a:xfrm>
            <a:off x="457200" y="3931920"/>
            <a:ext cx="5486400" cy="914400"/>
          </a:xfrm>
          <a:prstGeom prst="rect">
            <a:avLst/>
          </a:prstGeom>
          <a:noFill/>
        </p:spPr>
        <p:txBody>
          <a:bodyPr wrap="square" anchor="t" lIns="0" rIns="0" tIns="0" bIns="0">
            <a:spAutoFit/>
          </a:bodyPr>
          <a:lstStyle/>
          <a:p>
            <a:pPr algn="l">
              <a:spcAft>
                <a:spcPts val="600"/>
              </a:spcAft>
            </a:pPr>
            <a:r>
              <a:rPr sz="2600" b="0">
                <a:solidFill>
                  <a:srgbClr val="11241D"/>
                </a:solidFill>
                <a:latin typeface="IBM Plex Sans"/>
              </a:rPr>
              <a:t>Menemukan klaim berisiko, dan menunjukkan buktinya.</a:t>
            </a:r>
          </a:p>
        </p:txBody>
      </p:sp>
      <p:sp>
        <p:nvSpPr>
          <p:cNvPr id="9" name="TextBox 8"/>
          <p:cNvSpPr txBox="1"/>
          <p:nvPr/>
        </p:nvSpPr>
        <p:spPr>
          <a:xfrm>
            <a:off x="457200" y="5120640"/>
            <a:ext cx="5486400" cy="822960"/>
          </a:xfrm>
          <a:prstGeom prst="rect">
            <a:avLst/>
          </a:prstGeom>
          <a:noFill/>
        </p:spPr>
        <p:txBody>
          <a:bodyPr wrap="square" anchor="t" lIns="0" rIns="0" tIns="0" bIns="0">
            <a:spAutoFit/>
          </a:bodyPr>
          <a:lstStyle/>
          <a:p>
            <a:pPr algn="l">
              <a:spcAft>
                <a:spcPts val="600"/>
              </a:spcAft>
            </a:pPr>
            <a:r>
              <a:rPr sz="1800" b="0">
                <a:solidFill>
                  <a:srgbClr val="475B53"/>
                </a:solidFill>
                <a:latin typeface="IBM Plex Sans"/>
              </a:rPr>
              <a:t>Kategori: Efisiensi Risiko pada fasilitas kesehatan</a:t>
            </a:r>
          </a:p>
          <a:p>
            <a:pPr algn="l">
              <a:spcAft>
                <a:spcPts val="600"/>
              </a:spcAft>
            </a:pPr>
            <a:r>
              <a:rPr sz="1800" b="0">
                <a:solidFill>
                  <a:srgbClr val="475B53"/>
                </a:solidFill>
                <a:latin typeface="IBM Plex Sans"/>
              </a:rPr>
              <a:t>Tim: [isi nama tim]</a:t>
            </a:r>
          </a:p>
        </p:txBody>
      </p:sp>
      <p:sp>
        <p:nvSpPr>
          <p:cNvPr id="10" name="Rectangle 9"/>
          <p:cNvSpPr/>
          <p:nvPr/>
        </p:nvSpPr>
        <p:spPr>
          <a:xfrm>
            <a:off x="6400800" y="1097280"/>
            <a:ext cx="5394960" cy="5120640"/>
          </a:xfrm>
          <a:prstGeom prst="rect">
            <a:avLst/>
          </a:prstGeom>
          <a:solidFill>
            <a:srgbClr val="EDF2EF"/>
          </a:solidFill>
          <a:ln w="12700">
            <a:solidFill>
              <a:srgbClr val="475B5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097280"/>
            <a:ext cx="5394960" cy="5120640"/>
          </a:xfrm>
          <a:prstGeom prst="rect">
            <a:avLst/>
          </a:prstGeom>
          <a:noFill/>
        </p:spPr>
        <p:txBody>
          <a:bodyPr wrap="square" anchor="ctr" lIns="0" rIns="0" tIns="0" bIns="0">
            <a:spAutoFit/>
          </a:bodyPr>
          <a:lstStyle/>
          <a:p>
            <a:pPr algn="ctr">
              <a:spcAft>
                <a:spcPts val="600"/>
              </a:spcAft>
            </a:pPr>
            <a:r>
              <a:rPr sz="1600" b="0">
                <a:solidFill>
                  <a:srgbClr val="475B53"/>
                </a:solidFill>
                <a:latin typeface="IBM Plex Sans"/>
              </a:rPr>
              <a:t>Tempel gambar AI di sini</a:t>
            </a:r>
          </a:p>
          <a:p>
            <a:pPr algn="ctr">
              <a:spcAft>
                <a:spcPts val="600"/>
              </a:spcAft>
            </a:pPr>
            <a:r>
              <a:rPr sz="1600" b="0">
                <a:solidFill>
                  <a:srgbClr val="475B53"/>
                </a:solidFill>
                <a:latin typeface="IBM Plex Sans"/>
              </a:rPr>
              <a:t>slides/images/slide-01.png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rsa_logo.png"/>
          <p:cNvPicPr>
            <a:picLocks noChangeAspect="1"/>
          </p:cNvPicPr>
          <p:nvPr/>
        </p:nvPicPr>
        <p:blipFill>
          <a:blip r:embed="rId2"/>
          <a:stretch>
            <a:fillRect/>
          </a:stretch>
        </p:blipFill>
        <p:spPr>
          <a:xfrm>
            <a:off x="457200" y="320040"/>
            <a:ext cx="592263" cy="457200"/>
          </a:xfrm>
          <a:prstGeom prst="rect">
            <a:avLst/>
          </a:prstGeom>
        </p:spPr>
      </p:pic>
      <p:sp>
        <p:nvSpPr>
          <p:cNvPr id="3" name="TextBox 2"/>
          <p:cNvSpPr txBox="1"/>
          <p:nvPr/>
        </p:nvSpPr>
        <p:spPr>
          <a:xfrm>
            <a:off x="1051560" y="384048"/>
            <a:ext cx="3657600" cy="365760"/>
          </a:xfrm>
          <a:prstGeom prst="rect">
            <a:avLst/>
          </a:prstGeom>
          <a:noFill/>
        </p:spPr>
        <p:txBody>
          <a:bodyPr wrap="square" anchor="t" lIns="0" rIns="0" tIns="0" bIns="0">
            <a:spAutoFit/>
          </a:bodyPr>
          <a:lstStyle/>
          <a:p>
            <a:pPr algn="l">
              <a:spcAft>
                <a:spcPts val="600"/>
              </a:spcAft>
            </a:pPr>
            <a:r>
              <a:rPr sz="1800" b="1">
                <a:solidFill>
                  <a:srgbClr val="0B291C"/>
                </a:solidFill>
                <a:latin typeface="IBM Plex Sans"/>
              </a:rPr>
              <a:t>Arsa AI</a:t>
            </a:r>
          </a:p>
        </p:txBody>
      </p:sp>
      <p:sp>
        <p:nvSpPr>
          <p:cNvPr id="4" name="TextBox 3"/>
          <p:cNvSpPr txBox="1"/>
          <p:nvPr/>
        </p:nvSpPr>
        <p:spPr>
          <a:xfrm>
            <a:off x="7589520" y="384048"/>
            <a:ext cx="4114800" cy="365760"/>
          </a:xfrm>
          <a:prstGeom prst="rect">
            <a:avLst/>
          </a:prstGeom>
          <a:noFill/>
        </p:spPr>
        <p:txBody>
          <a:bodyPr wrap="square" anchor="t" lIns="0" rIns="0" tIns="0" bIns="0">
            <a:spAutoFit/>
          </a:bodyPr>
          <a:lstStyle/>
          <a:p>
            <a:pPr algn="r">
              <a:spcAft>
                <a:spcPts val="600"/>
              </a:spcAft>
            </a:pPr>
            <a:r>
              <a:rPr sz="1400" b="0">
                <a:solidFill>
                  <a:srgbClr val="475B53"/>
                </a:solidFill>
                <a:latin typeface="IBM Plex Sans"/>
              </a:rPr>
              <a:t>Healthkathon 2026  ·  Detect Smarter, Protect JKN</a:t>
            </a:r>
          </a:p>
        </p:txBody>
      </p:sp>
      <p:sp>
        <p:nvSpPr>
          <p:cNvPr id="5" name="TextBox 4"/>
          <p:cNvSpPr txBox="1"/>
          <p:nvPr/>
        </p:nvSpPr>
        <p:spPr>
          <a:xfrm>
            <a:off x="457200" y="960120"/>
            <a:ext cx="11247120" cy="1188720"/>
          </a:xfrm>
          <a:prstGeom prst="rect">
            <a:avLst/>
          </a:prstGeom>
          <a:noFill/>
        </p:spPr>
        <p:txBody>
          <a:bodyPr wrap="square" anchor="t" lIns="0" rIns="0" tIns="0" bIns="0">
            <a:spAutoFit/>
          </a:bodyPr>
          <a:lstStyle/>
          <a:p>
            <a:pPr algn="l">
              <a:spcAft>
                <a:spcPts val="600"/>
              </a:spcAft>
            </a:pPr>
            <a:r>
              <a:rPr sz="3600" b="1">
                <a:solidFill>
                  <a:srgbClr val="0B291C"/>
                </a:solidFill>
                <a:latin typeface="IBM Plex Sans"/>
              </a:rPr>
              <a:t>Tim kami</a:t>
            </a:r>
          </a:p>
        </p:txBody>
      </p:sp>
      <p:sp>
        <p:nvSpPr>
          <p:cNvPr id="6" name="TextBox 5"/>
          <p:cNvSpPr txBox="1"/>
          <p:nvPr/>
        </p:nvSpPr>
        <p:spPr>
          <a:xfrm>
            <a:off x="11155680" y="6400800"/>
            <a:ext cx="640080" cy="274320"/>
          </a:xfrm>
          <a:prstGeom prst="rect">
            <a:avLst/>
          </a:prstGeom>
          <a:noFill/>
        </p:spPr>
        <p:txBody>
          <a:bodyPr wrap="square" anchor="t" lIns="0" rIns="0" tIns="0" bIns="0">
            <a:spAutoFit/>
          </a:bodyPr>
          <a:lstStyle/>
          <a:p>
            <a:pPr algn="r">
              <a:spcAft>
                <a:spcPts val="600"/>
              </a:spcAft>
            </a:pPr>
            <a:r>
              <a:rPr sz="1400" b="0">
                <a:solidFill>
                  <a:srgbClr val="475B53"/>
                </a:solidFill>
                <a:latin typeface="IBM Plex Sans"/>
              </a:rPr>
              <a:t>2</a:t>
            </a:r>
          </a:p>
        </p:txBody>
      </p:sp>
      <p:sp>
        <p:nvSpPr>
          <p:cNvPr id="7" name="Oval 6"/>
          <p:cNvSpPr/>
          <p:nvPr/>
        </p:nvSpPr>
        <p:spPr>
          <a:xfrm>
            <a:off x="1325880" y="2286000"/>
            <a:ext cx="2194560" cy="2194560"/>
          </a:xfrm>
          <a:prstGeom prst="ellipse">
            <a:avLst/>
          </a:prstGeom>
          <a:solidFill>
            <a:srgbClr val="EDF2EF"/>
          </a:solidFill>
          <a:ln w="12700">
            <a:solidFill>
              <a:srgbClr val="475B5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25880" y="2286000"/>
            <a:ext cx="2194560" cy="2194560"/>
          </a:xfrm>
          <a:prstGeom prst="rect">
            <a:avLst/>
          </a:prstGeom>
          <a:noFill/>
        </p:spPr>
        <p:txBody>
          <a:bodyPr wrap="square" anchor="ctr" lIns="0" rIns="0" tIns="0" bIns="0">
            <a:spAutoFit/>
          </a:bodyPr>
          <a:lstStyle/>
          <a:p>
            <a:pPr algn="ctr">
              <a:spcAft>
                <a:spcPts val="600"/>
              </a:spcAft>
            </a:pPr>
            <a:r>
              <a:rPr sz="1800" b="0">
                <a:solidFill>
                  <a:srgbClr val="475B53"/>
                </a:solidFill>
                <a:latin typeface="IBM Plex Sans"/>
              </a:rPr>
              <a:t>Foto</a:t>
            </a:r>
          </a:p>
        </p:txBody>
      </p:sp>
      <p:sp>
        <p:nvSpPr>
          <p:cNvPr id="9" name="TextBox 8"/>
          <p:cNvSpPr txBox="1"/>
          <p:nvPr/>
        </p:nvSpPr>
        <p:spPr>
          <a:xfrm>
            <a:off x="822960" y="4663440"/>
            <a:ext cx="3200400" cy="457200"/>
          </a:xfrm>
          <a:prstGeom prst="rect">
            <a:avLst/>
          </a:prstGeom>
          <a:noFill/>
        </p:spPr>
        <p:txBody>
          <a:bodyPr wrap="square" anchor="t" lIns="0" rIns="0" tIns="0" bIns="0">
            <a:spAutoFit/>
          </a:bodyPr>
          <a:lstStyle/>
          <a:p>
            <a:pPr algn="ctr">
              <a:spcAft>
                <a:spcPts val="600"/>
              </a:spcAft>
            </a:pPr>
            <a:r>
              <a:rPr sz="2400" b="1">
                <a:solidFill>
                  <a:srgbClr val="0B291C"/>
                </a:solidFill>
                <a:latin typeface="IBM Plex Sans"/>
              </a:rPr>
              <a:t>Moch Aril Indra Permana</a:t>
            </a:r>
          </a:p>
        </p:txBody>
      </p:sp>
      <p:sp>
        <p:nvSpPr>
          <p:cNvPr id="10" name="TextBox 9"/>
          <p:cNvSpPr txBox="1"/>
          <p:nvPr/>
        </p:nvSpPr>
        <p:spPr>
          <a:xfrm>
            <a:off x="822960" y="5120640"/>
            <a:ext cx="3200400" cy="457200"/>
          </a:xfrm>
          <a:prstGeom prst="rect">
            <a:avLst/>
          </a:prstGeom>
          <a:noFill/>
        </p:spPr>
        <p:txBody>
          <a:bodyPr wrap="square" anchor="t" lIns="0" rIns="0" tIns="0" bIns="0">
            <a:spAutoFit/>
          </a:bodyPr>
          <a:lstStyle/>
          <a:p>
            <a:pPr algn="ctr">
              <a:spcAft>
                <a:spcPts val="600"/>
              </a:spcAft>
            </a:pPr>
            <a:r>
              <a:rPr sz="1800" b="0">
                <a:solidFill>
                  <a:srgbClr val="007A3A"/>
                </a:solidFill>
                <a:latin typeface="IBM Plex Sans"/>
              </a:rPr>
              <a:t>Ketua tim, AI platform engineer</a:t>
            </a:r>
          </a:p>
        </p:txBody>
      </p:sp>
      <p:sp>
        <p:nvSpPr>
          <p:cNvPr id="11" name="TextBox 10"/>
          <p:cNvSpPr txBox="1"/>
          <p:nvPr/>
        </p:nvSpPr>
        <p:spPr>
          <a:xfrm>
            <a:off x="822960" y="5577840"/>
            <a:ext cx="3200400" cy="731520"/>
          </a:xfrm>
          <a:prstGeom prst="rect">
            <a:avLst/>
          </a:prstGeom>
          <a:noFill/>
        </p:spPr>
        <p:txBody>
          <a:bodyPr wrap="square" anchor="t" lIns="0" rIns="0" tIns="0" bIns="0">
            <a:spAutoFit/>
          </a:bodyPr>
          <a:lstStyle/>
          <a:p>
            <a:pPr algn="ctr">
              <a:spcAft>
                <a:spcPts val="600"/>
              </a:spcAft>
            </a:pPr>
            <a:r>
              <a:rPr sz="1600" b="0">
                <a:solidFill>
                  <a:srgbClr val="475B53"/>
                </a:solidFill>
                <a:latin typeface="IBM Plex Sans"/>
              </a:rPr>
              <a:t>[satu baris keahlian, sama dengan proposal]</a:t>
            </a:r>
          </a:p>
        </p:txBody>
      </p:sp>
      <p:sp>
        <p:nvSpPr>
          <p:cNvPr id="12" name="Oval 11"/>
          <p:cNvSpPr/>
          <p:nvPr/>
        </p:nvSpPr>
        <p:spPr>
          <a:xfrm>
            <a:off x="5074920" y="2286000"/>
            <a:ext cx="2194560" cy="2194560"/>
          </a:xfrm>
          <a:prstGeom prst="ellipse">
            <a:avLst/>
          </a:prstGeom>
          <a:solidFill>
            <a:srgbClr val="EDF2EF"/>
          </a:solidFill>
          <a:ln w="12700">
            <a:solidFill>
              <a:srgbClr val="475B5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74920" y="2286000"/>
            <a:ext cx="2194560" cy="2194560"/>
          </a:xfrm>
          <a:prstGeom prst="rect">
            <a:avLst/>
          </a:prstGeom>
          <a:noFill/>
        </p:spPr>
        <p:txBody>
          <a:bodyPr wrap="square" anchor="ctr" lIns="0" rIns="0" tIns="0" bIns="0">
            <a:spAutoFit/>
          </a:bodyPr>
          <a:lstStyle/>
          <a:p>
            <a:pPr algn="ctr">
              <a:spcAft>
                <a:spcPts val="600"/>
              </a:spcAft>
            </a:pPr>
            <a:r>
              <a:rPr sz="1800" b="0">
                <a:solidFill>
                  <a:srgbClr val="475B53"/>
                </a:solidFill>
                <a:latin typeface="IBM Plex Sans"/>
              </a:rPr>
              <a:t>Foto</a:t>
            </a:r>
          </a:p>
        </p:txBody>
      </p:sp>
      <p:sp>
        <p:nvSpPr>
          <p:cNvPr id="14" name="TextBox 13"/>
          <p:cNvSpPr txBox="1"/>
          <p:nvPr/>
        </p:nvSpPr>
        <p:spPr>
          <a:xfrm>
            <a:off x="4572000" y="4663440"/>
            <a:ext cx="3200400" cy="457200"/>
          </a:xfrm>
          <a:prstGeom prst="rect">
            <a:avLst/>
          </a:prstGeom>
          <a:noFill/>
        </p:spPr>
        <p:txBody>
          <a:bodyPr wrap="square" anchor="t" lIns="0" rIns="0" tIns="0" bIns="0">
            <a:spAutoFit/>
          </a:bodyPr>
          <a:lstStyle/>
          <a:p>
            <a:pPr algn="ctr">
              <a:spcAft>
                <a:spcPts val="600"/>
              </a:spcAft>
            </a:pPr>
            <a:r>
              <a:rPr sz="2400" b="1">
                <a:solidFill>
                  <a:srgbClr val="0B291C"/>
                </a:solidFill>
                <a:latin typeface="IBM Plex Sans"/>
              </a:rPr>
              <a:t>Salfarisa Fitria</a:t>
            </a:r>
          </a:p>
        </p:txBody>
      </p:sp>
      <p:sp>
        <p:nvSpPr>
          <p:cNvPr id="15" name="TextBox 14"/>
          <p:cNvSpPr txBox="1"/>
          <p:nvPr/>
        </p:nvSpPr>
        <p:spPr>
          <a:xfrm>
            <a:off x="4572000" y="5120640"/>
            <a:ext cx="3200400" cy="457200"/>
          </a:xfrm>
          <a:prstGeom prst="rect">
            <a:avLst/>
          </a:prstGeom>
          <a:noFill/>
        </p:spPr>
        <p:txBody>
          <a:bodyPr wrap="square" anchor="t" lIns="0" rIns="0" tIns="0" bIns="0">
            <a:spAutoFit/>
          </a:bodyPr>
          <a:lstStyle/>
          <a:p>
            <a:pPr algn="ctr">
              <a:spcAft>
                <a:spcPts val="600"/>
              </a:spcAft>
            </a:pPr>
            <a:r>
              <a:rPr sz="1800" b="0">
                <a:solidFill>
                  <a:srgbClr val="007A3A"/>
                </a:solidFill>
                <a:latin typeface="IBM Plex Sans"/>
              </a:rPr>
              <a:t>Data scientist dan ML engineer</a:t>
            </a:r>
          </a:p>
        </p:txBody>
      </p:sp>
      <p:sp>
        <p:nvSpPr>
          <p:cNvPr id="16" name="TextBox 15"/>
          <p:cNvSpPr txBox="1"/>
          <p:nvPr/>
        </p:nvSpPr>
        <p:spPr>
          <a:xfrm>
            <a:off x="4572000" y="5577840"/>
            <a:ext cx="3200400" cy="731520"/>
          </a:xfrm>
          <a:prstGeom prst="rect">
            <a:avLst/>
          </a:prstGeom>
          <a:noFill/>
        </p:spPr>
        <p:txBody>
          <a:bodyPr wrap="square" anchor="t" lIns="0" rIns="0" tIns="0" bIns="0">
            <a:spAutoFit/>
          </a:bodyPr>
          <a:lstStyle/>
          <a:p>
            <a:pPr algn="ctr">
              <a:spcAft>
                <a:spcPts val="600"/>
              </a:spcAft>
            </a:pPr>
            <a:r>
              <a:rPr sz="1600" b="0">
                <a:solidFill>
                  <a:srgbClr val="475B53"/>
                </a:solidFill>
                <a:latin typeface="IBM Plex Sans"/>
              </a:rPr>
              <a:t>[satu baris keahlian, sama dengan proposal]</a:t>
            </a:r>
          </a:p>
        </p:txBody>
      </p:sp>
      <p:sp>
        <p:nvSpPr>
          <p:cNvPr id="17" name="Oval 16"/>
          <p:cNvSpPr/>
          <p:nvPr/>
        </p:nvSpPr>
        <p:spPr>
          <a:xfrm>
            <a:off x="8823960" y="2286000"/>
            <a:ext cx="2194560" cy="2194560"/>
          </a:xfrm>
          <a:prstGeom prst="ellipse">
            <a:avLst/>
          </a:prstGeom>
          <a:solidFill>
            <a:srgbClr val="EDF2EF"/>
          </a:solidFill>
          <a:ln w="12700">
            <a:solidFill>
              <a:srgbClr val="475B5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823960" y="2286000"/>
            <a:ext cx="2194560" cy="2194560"/>
          </a:xfrm>
          <a:prstGeom prst="rect">
            <a:avLst/>
          </a:prstGeom>
          <a:noFill/>
        </p:spPr>
        <p:txBody>
          <a:bodyPr wrap="square" anchor="ctr" lIns="0" rIns="0" tIns="0" bIns="0">
            <a:spAutoFit/>
          </a:bodyPr>
          <a:lstStyle/>
          <a:p>
            <a:pPr algn="ctr">
              <a:spcAft>
                <a:spcPts val="600"/>
              </a:spcAft>
            </a:pPr>
            <a:r>
              <a:rPr sz="1800" b="0">
                <a:solidFill>
                  <a:srgbClr val="475B53"/>
                </a:solidFill>
                <a:latin typeface="IBM Plex Sans"/>
              </a:rPr>
              <a:t>Foto</a:t>
            </a:r>
          </a:p>
        </p:txBody>
      </p:sp>
      <p:sp>
        <p:nvSpPr>
          <p:cNvPr id="19" name="TextBox 18"/>
          <p:cNvSpPr txBox="1"/>
          <p:nvPr/>
        </p:nvSpPr>
        <p:spPr>
          <a:xfrm>
            <a:off x="8321040" y="4663440"/>
            <a:ext cx="3200400" cy="457200"/>
          </a:xfrm>
          <a:prstGeom prst="rect">
            <a:avLst/>
          </a:prstGeom>
          <a:noFill/>
        </p:spPr>
        <p:txBody>
          <a:bodyPr wrap="square" anchor="t" lIns="0" rIns="0" tIns="0" bIns="0">
            <a:spAutoFit/>
          </a:bodyPr>
          <a:lstStyle/>
          <a:p>
            <a:pPr algn="ctr">
              <a:spcAft>
                <a:spcPts val="600"/>
              </a:spcAft>
            </a:pPr>
            <a:r>
              <a:rPr sz="2400" b="1">
                <a:solidFill>
                  <a:srgbClr val="0B291C"/>
                </a:solidFill>
                <a:latin typeface="IBM Plex Sans"/>
              </a:rPr>
              <a:t>[Anggota 3, jika ada]</a:t>
            </a:r>
          </a:p>
        </p:txBody>
      </p:sp>
      <p:sp>
        <p:nvSpPr>
          <p:cNvPr id="20" name="TextBox 19"/>
          <p:cNvSpPr txBox="1"/>
          <p:nvPr/>
        </p:nvSpPr>
        <p:spPr>
          <a:xfrm>
            <a:off x="8321040" y="5120640"/>
            <a:ext cx="3200400" cy="457200"/>
          </a:xfrm>
          <a:prstGeom prst="rect">
            <a:avLst/>
          </a:prstGeom>
          <a:noFill/>
        </p:spPr>
        <p:txBody>
          <a:bodyPr wrap="square" anchor="t" lIns="0" rIns="0" tIns="0" bIns="0">
            <a:spAutoFit/>
          </a:bodyPr>
          <a:lstStyle/>
          <a:p>
            <a:pPr algn="ctr">
              <a:spcAft>
                <a:spcPts val="600"/>
              </a:spcAft>
            </a:pPr>
            <a:r>
              <a:rPr sz="1800" b="0">
                <a:solidFill>
                  <a:srgbClr val="007A3A"/>
                </a:solidFill>
                <a:latin typeface="IBM Plex Sans"/>
              </a:rPr>
              <a:t>[peran]</a:t>
            </a:r>
          </a:p>
        </p:txBody>
      </p:sp>
      <p:sp>
        <p:nvSpPr>
          <p:cNvPr id="21" name="TextBox 20"/>
          <p:cNvSpPr txBox="1"/>
          <p:nvPr/>
        </p:nvSpPr>
        <p:spPr>
          <a:xfrm>
            <a:off x="8321040" y="5577840"/>
            <a:ext cx="3200400" cy="731520"/>
          </a:xfrm>
          <a:prstGeom prst="rect">
            <a:avLst/>
          </a:prstGeom>
          <a:noFill/>
        </p:spPr>
        <p:txBody>
          <a:bodyPr wrap="square" anchor="t" lIns="0" rIns="0" tIns="0" bIns="0">
            <a:spAutoFit/>
          </a:bodyPr>
          <a:lstStyle/>
          <a:p>
            <a:pPr algn="ctr">
              <a:spcAft>
                <a:spcPts val="600"/>
              </a:spcAft>
            </a:pPr>
            <a:r>
              <a:rPr sz="1600" b="0">
                <a:solidFill>
                  <a:srgbClr val="475B53"/>
                </a:solidFill>
                <a:latin typeface="IBM Plex Sans"/>
              </a:rPr>
              <a:t>[keahlian]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rsa_logo.png"/>
          <p:cNvPicPr>
            <a:picLocks noChangeAspect="1"/>
          </p:cNvPicPr>
          <p:nvPr/>
        </p:nvPicPr>
        <p:blipFill>
          <a:blip r:embed="rId2"/>
          <a:stretch>
            <a:fillRect/>
          </a:stretch>
        </p:blipFill>
        <p:spPr>
          <a:xfrm>
            <a:off x="457200" y="320040"/>
            <a:ext cx="592263" cy="457200"/>
          </a:xfrm>
          <a:prstGeom prst="rect">
            <a:avLst/>
          </a:prstGeom>
        </p:spPr>
      </p:pic>
      <p:sp>
        <p:nvSpPr>
          <p:cNvPr id="3" name="TextBox 2"/>
          <p:cNvSpPr txBox="1"/>
          <p:nvPr/>
        </p:nvSpPr>
        <p:spPr>
          <a:xfrm>
            <a:off x="1051560" y="384048"/>
            <a:ext cx="3657600" cy="365760"/>
          </a:xfrm>
          <a:prstGeom prst="rect">
            <a:avLst/>
          </a:prstGeom>
          <a:noFill/>
        </p:spPr>
        <p:txBody>
          <a:bodyPr wrap="square" anchor="t" lIns="0" rIns="0" tIns="0" bIns="0">
            <a:spAutoFit/>
          </a:bodyPr>
          <a:lstStyle/>
          <a:p>
            <a:pPr algn="l">
              <a:spcAft>
                <a:spcPts val="600"/>
              </a:spcAft>
            </a:pPr>
            <a:r>
              <a:rPr sz="1800" b="1">
                <a:solidFill>
                  <a:srgbClr val="0B291C"/>
                </a:solidFill>
                <a:latin typeface="IBM Plex Sans"/>
              </a:rPr>
              <a:t>Arsa AI</a:t>
            </a:r>
          </a:p>
        </p:txBody>
      </p:sp>
      <p:sp>
        <p:nvSpPr>
          <p:cNvPr id="4" name="TextBox 3"/>
          <p:cNvSpPr txBox="1"/>
          <p:nvPr/>
        </p:nvSpPr>
        <p:spPr>
          <a:xfrm>
            <a:off x="7589520" y="384048"/>
            <a:ext cx="4114800" cy="365760"/>
          </a:xfrm>
          <a:prstGeom prst="rect">
            <a:avLst/>
          </a:prstGeom>
          <a:noFill/>
        </p:spPr>
        <p:txBody>
          <a:bodyPr wrap="square" anchor="t" lIns="0" rIns="0" tIns="0" bIns="0">
            <a:spAutoFit/>
          </a:bodyPr>
          <a:lstStyle/>
          <a:p>
            <a:pPr algn="r">
              <a:spcAft>
                <a:spcPts val="600"/>
              </a:spcAft>
            </a:pPr>
            <a:r>
              <a:rPr sz="1400" b="0">
                <a:solidFill>
                  <a:srgbClr val="475B53"/>
                </a:solidFill>
                <a:latin typeface="IBM Plex Sans"/>
              </a:rPr>
              <a:t>Healthkathon 2026  ·  Detect Smarter, Protect JKN</a:t>
            </a:r>
          </a:p>
        </p:txBody>
      </p:sp>
      <p:sp>
        <p:nvSpPr>
          <p:cNvPr id="5" name="TextBox 4"/>
          <p:cNvSpPr txBox="1"/>
          <p:nvPr/>
        </p:nvSpPr>
        <p:spPr>
          <a:xfrm>
            <a:off x="457200" y="960120"/>
            <a:ext cx="11247120" cy="1188720"/>
          </a:xfrm>
          <a:prstGeom prst="rect">
            <a:avLst/>
          </a:prstGeom>
          <a:noFill/>
        </p:spPr>
        <p:txBody>
          <a:bodyPr wrap="square" anchor="t" lIns="0" rIns="0" tIns="0" bIns="0">
            <a:spAutoFit/>
          </a:bodyPr>
          <a:lstStyle/>
          <a:p>
            <a:pPr algn="l">
              <a:spcAft>
                <a:spcPts val="600"/>
              </a:spcAft>
            </a:pPr>
            <a:r>
              <a:rPr sz="3600" b="1">
                <a:solidFill>
                  <a:srgbClr val="0B291C"/>
                </a:solidFill>
                <a:latin typeface="IBM Plex Sans"/>
              </a:rPr>
              <a:t>Arsa AI membantu verifikator memeriksa klaim berisiko dengan bukti yang bisa dicek</a:t>
            </a:r>
          </a:p>
        </p:txBody>
      </p:sp>
      <p:sp>
        <p:nvSpPr>
          <p:cNvPr id="6" name="TextBox 5"/>
          <p:cNvSpPr txBox="1"/>
          <p:nvPr/>
        </p:nvSpPr>
        <p:spPr>
          <a:xfrm>
            <a:off x="11155680" y="6400800"/>
            <a:ext cx="640080" cy="274320"/>
          </a:xfrm>
          <a:prstGeom prst="rect">
            <a:avLst/>
          </a:prstGeom>
          <a:noFill/>
        </p:spPr>
        <p:txBody>
          <a:bodyPr wrap="square" anchor="t" lIns="0" rIns="0" tIns="0" bIns="0">
            <a:spAutoFit/>
          </a:bodyPr>
          <a:lstStyle/>
          <a:p>
            <a:pPr algn="r">
              <a:spcAft>
                <a:spcPts val="600"/>
              </a:spcAft>
            </a:pPr>
            <a:r>
              <a:rPr sz="1400" b="0">
                <a:solidFill>
                  <a:srgbClr val="475B53"/>
                </a:solidFill>
                <a:latin typeface="IBM Plex Sans"/>
              </a:rPr>
              <a:t>3</a:t>
            </a:r>
          </a:p>
        </p:txBody>
      </p:sp>
      <p:sp>
        <p:nvSpPr>
          <p:cNvPr id="7" name="TextBox 6"/>
          <p:cNvSpPr txBox="1"/>
          <p:nvPr/>
        </p:nvSpPr>
        <p:spPr>
          <a:xfrm>
            <a:off x="457200" y="2286000"/>
            <a:ext cx="5669280" cy="3200400"/>
          </a:xfrm>
          <a:prstGeom prst="rect">
            <a:avLst/>
          </a:prstGeom>
          <a:noFill/>
        </p:spPr>
        <p:txBody>
          <a:bodyPr wrap="square" anchor="t" lIns="0" rIns="0" tIns="0" bIns="0">
            <a:spAutoFit/>
          </a:bodyPr>
          <a:lstStyle/>
          <a:p>
            <a:pPr algn="l">
              <a:spcAft>
                <a:spcPts val="600"/>
              </a:spcAft>
            </a:pPr>
            <a:r>
              <a:rPr sz="2400" b="0">
                <a:solidFill>
                  <a:srgbClr val="11241D"/>
                </a:solidFill>
                <a:latin typeface="IBM Plex Sans"/>
              </a:rPr>
              <a:t>Delapan detektor menandai klaim yang janggal.</a:t>
            </a:r>
          </a:p>
          <a:p>
            <a:pPr algn="l">
              <a:spcAft>
                <a:spcPts val="600"/>
              </a:spcAft>
            </a:pPr>
            <a:r>
              <a:rPr sz="2400" b="0">
                <a:solidFill>
                  <a:srgbClr val="11241D"/>
                </a:solidFill>
                <a:latin typeface="IBM Plex Sans"/>
              </a:rPr>
              <a:t>Setiap temuan membawa bukti: dokumen yang bertentangan, selisih terhadap klaim sejenis, klaim serupa.</a:t>
            </a:r>
          </a:p>
          <a:p>
            <a:pPr algn="l">
              <a:spcAft>
                <a:spcPts val="600"/>
              </a:spcAft>
            </a:pPr>
            <a:r>
              <a:rPr sz="2400" b="0">
                <a:solidFill>
                  <a:srgbClr val="11241D"/>
                </a:solidFill>
                <a:latin typeface="IBM Plex Sans"/>
              </a:rPr>
              <a:t>AI hanya menjelaskan dan selalu mengutip sumber.</a:t>
            </a:r>
          </a:p>
          <a:p>
            <a:pPr algn="l">
              <a:spcAft>
                <a:spcPts val="600"/>
              </a:spcAft>
            </a:pPr>
            <a:r>
              <a:rPr sz="2400" b="0">
                <a:solidFill>
                  <a:srgbClr val="11241D"/>
                </a:solidFill>
                <a:latin typeface="IBM Plex Sans"/>
              </a:rPr>
              <a:t>Manusia yang memutuskan.</a:t>
            </a:r>
          </a:p>
        </p:txBody>
      </p:sp>
      <p:sp>
        <p:nvSpPr>
          <p:cNvPr id="8" name="TextBox 7"/>
          <p:cNvSpPr txBox="1"/>
          <p:nvPr/>
        </p:nvSpPr>
        <p:spPr>
          <a:xfrm>
            <a:off x="6675120" y="2286000"/>
            <a:ext cx="5029200" cy="457200"/>
          </a:xfrm>
          <a:prstGeom prst="rect">
            <a:avLst/>
          </a:prstGeom>
          <a:noFill/>
        </p:spPr>
        <p:txBody>
          <a:bodyPr wrap="square" anchor="t" lIns="0" rIns="0" tIns="0" bIns="0">
            <a:spAutoFit/>
          </a:bodyPr>
          <a:lstStyle/>
          <a:p>
            <a:pPr algn="l">
              <a:spcAft>
                <a:spcPts val="600"/>
              </a:spcAft>
            </a:pPr>
            <a:r>
              <a:rPr sz="2400" b="1">
                <a:solidFill>
                  <a:srgbClr val="007A3A"/>
                </a:solidFill>
                <a:latin typeface="IBM Plex Sans"/>
              </a:rPr>
              <a:t>Tiga tujuan</a:t>
            </a:r>
          </a:p>
        </p:txBody>
      </p:sp>
      <p:sp>
        <p:nvSpPr>
          <p:cNvPr id="9" name="TextBox 8"/>
          <p:cNvSpPr txBox="1"/>
          <p:nvPr/>
        </p:nvSpPr>
        <p:spPr>
          <a:xfrm>
            <a:off x="6675120" y="2926080"/>
            <a:ext cx="548640" cy="731520"/>
          </a:xfrm>
          <a:prstGeom prst="rect">
            <a:avLst/>
          </a:prstGeom>
          <a:noFill/>
        </p:spPr>
        <p:txBody>
          <a:bodyPr wrap="square" anchor="t" lIns="0" rIns="0" tIns="0" bIns="0">
            <a:spAutoFit/>
          </a:bodyPr>
          <a:lstStyle/>
          <a:p>
            <a:pPr algn="l">
              <a:spcAft>
                <a:spcPts val="600"/>
              </a:spcAft>
            </a:pPr>
            <a:r>
              <a:rPr sz="4000" b="1">
                <a:solidFill>
                  <a:srgbClr val="0B291C"/>
                </a:solidFill>
                <a:latin typeface="IBM Plex Sans"/>
              </a:rPr>
              <a:t>1</a:t>
            </a:r>
          </a:p>
        </p:txBody>
      </p:sp>
      <p:sp>
        <p:nvSpPr>
          <p:cNvPr id="10" name="TextBox 9"/>
          <p:cNvSpPr txBox="1"/>
          <p:nvPr/>
        </p:nvSpPr>
        <p:spPr>
          <a:xfrm>
            <a:off x="7315200" y="3017520"/>
            <a:ext cx="4389120" cy="822960"/>
          </a:xfrm>
          <a:prstGeom prst="rect">
            <a:avLst/>
          </a:prstGeom>
          <a:noFill/>
        </p:spPr>
        <p:txBody>
          <a:bodyPr wrap="square" anchor="t" lIns="0" rIns="0" tIns="0" bIns="0">
            <a:spAutoFit/>
          </a:bodyPr>
          <a:lstStyle/>
          <a:p>
            <a:pPr algn="l">
              <a:spcAft>
                <a:spcPts val="600"/>
              </a:spcAft>
            </a:pPr>
            <a:r>
              <a:rPr sz="2200" b="0">
                <a:solidFill>
                  <a:srgbClr val="11241D"/>
                </a:solidFill>
                <a:latin typeface="IBM Plex Sans"/>
              </a:rPr>
              <a:t>Memusatkan pemeriksaan pada kasus prioritas</a:t>
            </a:r>
          </a:p>
        </p:txBody>
      </p:sp>
      <p:sp>
        <p:nvSpPr>
          <p:cNvPr id="11" name="TextBox 10"/>
          <p:cNvSpPr txBox="1"/>
          <p:nvPr/>
        </p:nvSpPr>
        <p:spPr>
          <a:xfrm>
            <a:off x="6675120" y="3931920"/>
            <a:ext cx="548640" cy="731520"/>
          </a:xfrm>
          <a:prstGeom prst="rect">
            <a:avLst/>
          </a:prstGeom>
          <a:noFill/>
        </p:spPr>
        <p:txBody>
          <a:bodyPr wrap="square" anchor="t" lIns="0" rIns="0" tIns="0" bIns="0">
            <a:spAutoFit/>
          </a:bodyPr>
          <a:lstStyle/>
          <a:p>
            <a:pPr algn="l">
              <a:spcAft>
                <a:spcPts val="600"/>
              </a:spcAft>
            </a:pPr>
            <a:r>
              <a:rPr sz="4000" b="1">
                <a:solidFill>
                  <a:srgbClr val="0B291C"/>
                </a:solidFill>
                <a:latin typeface="IBM Plex Sans"/>
              </a:rPr>
              <a:t>2</a:t>
            </a:r>
          </a:p>
        </p:txBody>
      </p:sp>
      <p:sp>
        <p:nvSpPr>
          <p:cNvPr id="12" name="TextBox 11"/>
          <p:cNvSpPr txBox="1"/>
          <p:nvPr/>
        </p:nvSpPr>
        <p:spPr>
          <a:xfrm>
            <a:off x="7315200" y="4023360"/>
            <a:ext cx="4389120" cy="822960"/>
          </a:xfrm>
          <a:prstGeom prst="rect">
            <a:avLst/>
          </a:prstGeom>
          <a:noFill/>
        </p:spPr>
        <p:txBody>
          <a:bodyPr wrap="square" anchor="t" lIns="0" rIns="0" tIns="0" bIns="0">
            <a:spAutoFit/>
          </a:bodyPr>
          <a:lstStyle/>
          <a:p>
            <a:pPr algn="l">
              <a:spcAft>
                <a:spcPts val="600"/>
              </a:spcAft>
            </a:pPr>
            <a:r>
              <a:rPr sz="2200" b="0">
                <a:solidFill>
                  <a:srgbClr val="11241D"/>
                </a:solidFill>
                <a:latin typeface="IBM Plex Sans"/>
              </a:rPr>
              <a:t>Setiap temuan bersitasi</a:t>
            </a:r>
          </a:p>
        </p:txBody>
      </p:sp>
      <p:sp>
        <p:nvSpPr>
          <p:cNvPr id="13" name="TextBox 12"/>
          <p:cNvSpPr txBox="1"/>
          <p:nvPr/>
        </p:nvSpPr>
        <p:spPr>
          <a:xfrm>
            <a:off x="6675120" y="4937760"/>
            <a:ext cx="548640" cy="731520"/>
          </a:xfrm>
          <a:prstGeom prst="rect">
            <a:avLst/>
          </a:prstGeom>
          <a:noFill/>
        </p:spPr>
        <p:txBody>
          <a:bodyPr wrap="square" anchor="t" lIns="0" rIns="0" tIns="0" bIns="0">
            <a:spAutoFit/>
          </a:bodyPr>
          <a:lstStyle/>
          <a:p>
            <a:pPr algn="l">
              <a:spcAft>
                <a:spcPts val="600"/>
              </a:spcAft>
            </a:pPr>
            <a:r>
              <a:rPr sz="4000" b="1">
                <a:solidFill>
                  <a:srgbClr val="0B291C"/>
                </a:solidFill>
                <a:latin typeface="IBM Plex Sans"/>
              </a:rPr>
              <a:t>3</a:t>
            </a:r>
          </a:p>
        </p:txBody>
      </p:sp>
      <p:sp>
        <p:nvSpPr>
          <p:cNvPr id="14" name="TextBox 13"/>
          <p:cNvSpPr txBox="1"/>
          <p:nvPr/>
        </p:nvSpPr>
        <p:spPr>
          <a:xfrm>
            <a:off x="7315200" y="5029200"/>
            <a:ext cx="4389120" cy="822960"/>
          </a:xfrm>
          <a:prstGeom prst="rect">
            <a:avLst/>
          </a:prstGeom>
          <a:noFill/>
        </p:spPr>
        <p:txBody>
          <a:bodyPr wrap="square" anchor="t" lIns="0" rIns="0" tIns="0" bIns="0">
            <a:spAutoFit/>
          </a:bodyPr>
          <a:lstStyle/>
          <a:p>
            <a:pPr algn="l">
              <a:spcAft>
                <a:spcPts val="600"/>
              </a:spcAft>
            </a:pPr>
            <a:r>
              <a:rPr sz="2200" b="0">
                <a:solidFill>
                  <a:srgbClr val="11241D"/>
                </a:solidFill>
                <a:latin typeface="IBM Plex Sans"/>
              </a:rPr>
              <a:t>Setiap keputusan tercatat di rantai audit yang tidak bisa diubah</a:t>
            </a:r>
          </a:p>
        </p:txBody>
      </p:sp>
      <p:sp>
        <p:nvSpPr>
          <p:cNvPr id="15" name="Rectangle 14"/>
          <p:cNvSpPr/>
          <p:nvPr/>
        </p:nvSpPr>
        <p:spPr>
          <a:xfrm>
            <a:off x="6675120" y="5669280"/>
            <a:ext cx="5029200" cy="822960"/>
          </a:xfrm>
          <a:prstGeom prst="rect">
            <a:avLst/>
          </a:prstGeom>
          <a:solidFill>
            <a:srgbClr val="EDF2EF"/>
          </a:solidFill>
          <a:ln w="12700">
            <a:solidFill>
              <a:srgbClr val="475B5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75120" y="5669280"/>
            <a:ext cx="5029200" cy="822960"/>
          </a:xfrm>
          <a:prstGeom prst="rect">
            <a:avLst/>
          </a:prstGeom>
          <a:noFill/>
        </p:spPr>
        <p:txBody>
          <a:bodyPr wrap="square" anchor="ctr" lIns="0" rIns="0" tIns="0" bIns="0">
            <a:spAutoFit/>
          </a:bodyPr>
          <a:lstStyle/>
          <a:p>
            <a:pPr algn="ctr">
              <a:spcAft>
                <a:spcPts val="600"/>
              </a:spcAft>
            </a:pPr>
            <a:r>
              <a:rPr sz="1600" b="0">
                <a:solidFill>
                  <a:srgbClr val="475B53"/>
                </a:solidFill>
                <a:latin typeface="IBM Plex Sans"/>
              </a:rPr>
              <a:t>Ilustrasi opsional (kecil)</a:t>
            </a:r>
          </a:p>
          <a:p>
            <a:pPr algn="ctr">
              <a:spcAft>
                <a:spcPts val="600"/>
              </a:spcAft>
            </a:pPr>
            <a:r>
              <a:rPr sz="1600" b="0">
                <a:solidFill>
                  <a:srgbClr val="475B53"/>
                </a:solidFill>
                <a:latin typeface="IBM Plex Sans"/>
              </a:rPr>
              <a:t>slides/images/slide-03.png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rsa_logo.png"/>
          <p:cNvPicPr>
            <a:picLocks noChangeAspect="1"/>
          </p:cNvPicPr>
          <p:nvPr/>
        </p:nvPicPr>
        <p:blipFill>
          <a:blip r:embed="rId2"/>
          <a:stretch>
            <a:fillRect/>
          </a:stretch>
        </p:blipFill>
        <p:spPr>
          <a:xfrm>
            <a:off x="457200" y="320040"/>
            <a:ext cx="592263" cy="457200"/>
          </a:xfrm>
          <a:prstGeom prst="rect">
            <a:avLst/>
          </a:prstGeom>
        </p:spPr>
      </p:pic>
      <p:sp>
        <p:nvSpPr>
          <p:cNvPr id="3" name="TextBox 2"/>
          <p:cNvSpPr txBox="1"/>
          <p:nvPr/>
        </p:nvSpPr>
        <p:spPr>
          <a:xfrm>
            <a:off x="1051560" y="384048"/>
            <a:ext cx="3657600" cy="365760"/>
          </a:xfrm>
          <a:prstGeom prst="rect">
            <a:avLst/>
          </a:prstGeom>
          <a:noFill/>
        </p:spPr>
        <p:txBody>
          <a:bodyPr wrap="square" anchor="t" lIns="0" rIns="0" tIns="0" bIns="0">
            <a:spAutoFit/>
          </a:bodyPr>
          <a:lstStyle/>
          <a:p>
            <a:pPr algn="l">
              <a:spcAft>
                <a:spcPts val="600"/>
              </a:spcAft>
            </a:pPr>
            <a:r>
              <a:rPr sz="1800" b="1">
                <a:solidFill>
                  <a:srgbClr val="0B291C"/>
                </a:solidFill>
                <a:latin typeface="IBM Plex Sans"/>
              </a:rPr>
              <a:t>Arsa AI</a:t>
            </a:r>
          </a:p>
        </p:txBody>
      </p:sp>
      <p:sp>
        <p:nvSpPr>
          <p:cNvPr id="4" name="TextBox 3"/>
          <p:cNvSpPr txBox="1"/>
          <p:nvPr/>
        </p:nvSpPr>
        <p:spPr>
          <a:xfrm>
            <a:off x="7589520" y="384048"/>
            <a:ext cx="4114800" cy="365760"/>
          </a:xfrm>
          <a:prstGeom prst="rect">
            <a:avLst/>
          </a:prstGeom>
          <a:noFill/>
        </p:spPr>
        <p:txBody>
          <a:bodyPr wrap="square" anchor="t" lIns="0" rIns="0" tIns="0" bIns="0">
            <a:spAutoFit/>
          </a:bodyPr>
          <a:lstStyle/>
          <a:p>
            <a:pPr algn="r">
              <a:spcAft>
                <a:spcPts val="600"/>
              </a:spcAft>
            </a:pPr>
            <a:r>
              <a:rPr sz="1400" b="0">
                <a:solidFill>
                  <a:srgbClr val="475B53"/>
                </a:solidFill>
                <a:latin typeface="IBM Plex Sans"/>
              </a:rPr>
              <a:t>Healthkathon 2026  ·  Detect Smarter, Protect JKN</a:t>
            </a:r>
          </a:p>
        </p:txBody>
      </p:sp>
      <p:sp>
        <p:nvSpPr>
          <p:cNvPr id="5" name="TextBox 4"/>
          <p:cNvSpPr txBox="1"/>
          <p:nvPr/>
        </p:nvSpPr>
        <p:spPr>
          <a:xfrm>
            <a:off x="457200" y="960120"/>
            <a:ext cx="11247120" cy="1188720"/>
          </a:xfrm>
          <a:prstGeom prst="rect">
            <a:avLst/>
          </a:prstGeom>
          <a:noFill/>
        </p:spPr>
        <p:txBody>
          <a:bodyPr wrap="square" anchor="t" lIns="0" rIns="0" tIns="0" bIns="0">
            <a:spAutoFit/>
          </a:bodyPr>
          <a:lstStyle/>
          <a:p>
            <a:pPr algn="l">
              <a:spcAft>
                <a:spcPts val="600"/>
              </a:spcAft>
            </a:pPr>
            <a:r>
              <a:rPr sz="3600" b="1">
                <a:solidFill>
                  <a:srgbClr val="0B291C"/>
                </a:solidFill>
                <a:latin typeface="IBM Plex Sans"/>
              </a:rPr>
              <a:t>Persoalannya bukan kurang peringatan, melainkan kurang bukti dan konteks</a:t>
            </a:r>
          </a:p>
        </p:txBody>
      </p:sp>
      <p:sp>
        <p:nvSpPr>
          <p:cNvPr id="6" name="TextBox 5"/>
          <p:cNvSpPr txBox="1"/>
          <p:nvPr/>
        </p:nvSpPr>
        <p:spPr>
          <a:xfrm>
            <a:off x="11155680" y="6400800"/>
            <a:ext cx="640080" cy="274320"/>
          </a:xfrm>
          <a:prstGeom prst="rect">
            <a:avLst/>
          </a:prstGeom>
          <a:noFill/>
        </p:spPr>
        <p:txBody>
          <a:bodyPr wrap="square" anchor="t" lIns="0" rIns="0" tIns="0" bIns="0">
            <a:spAutoFit/>
          </a:bodyPr>
          <a:lstStyle/>
          <a:p>
            <a:pPr algn="r">
              <a:spcAft>
                <a:spcPts val="600"/>
              </a:spcAft>
            </a:pPr>
            <a:r>
              <a:rPr sz="1400" b="0">
                <a:solidFill>
                  <a:srgbClr val="475B53"/>
                </a:solidFill>
                <a:latin typeface="IBM Plex Sans"/>
              </a:rPr>
              <a:t>4</a:t>
            </a:r>
          </a:p>
        </p:txBody>
      </p:sp>
      <p:sp>
        <p:nvSpPr>
          <p:cNvPr id="7" name="TextBox 6"/>
          <p:cNvSpPr txBox="1"/>
          <p:nvPr/>
        </p:nvSpPr>
        <p:spPr>
          <a:xfrm>
            <a:off x="457200" y="2468880"/>
            <a:ext cx="3657600" cy="1005840"/>
          </a:xfrm>
          <a:prstGeom prst="rect">
            <a:avLst/>
          </a:prstGeom>
          <a:noFill/>
        </p:spPr>
        <p:txBody>
          <a:bodyPr wrap="square" anchor="t" lIns="0" rIns="0" tIns="0" bIns="0">
            <a:spAutoFit/>
          </a:bodyPr>
          <a:lstStyle/>
          <a:p>
            <a:pPr algn="l">
              <a:spcAft>
                <a:spcPts val="600"/>
              </a:spcAft>
            </a:pPr>
            <a:r>
              <a:rPr sz="5400" b="1">
                <a:solidFill>
                  <a:srgbClr val="007A3A"/>
                </a:solidFill>
                <a:latin typeface="IBM Plex Sans"/>
              </a:rPr>
              <a:t>208 juta</a:t>
            </a:r>
          </a:p>
        </p:txBody>
      </p:sp>
      <p:sp>
        <p:nvSpPr>
          <p:cNvPr id="8" name="TextBox 7"/>
          <p:cNvSpPr txBox="1"/>
          <p:nvPr/>
        </p:nvSpPr>
        <p:spPr>
          <a:xfrm>
            <a:off x="457200" y="3566160"/>
            <a:ext cx="3657600" cy="822960"/>
          </a:xfrm>
          <a:prstGeom prst="rect">
            <a:avLst/>
          </a:prstGeom>
          <a:noFill/>
        </p:spPr>
        <p:txBody>
          <a:bodyPr wrap="square" anchor="t" lIns="0" rIns="0" tIns="0" bIns="0">
            <a:spAutoFit/>
          </a:bodyPr>
          <a:lstStyle/>
          <a:p>
            <a:pPr algn="l">
              <a:spcAft>
                <a:spcPts val="600"/>
              </a:spcAft>
            </a:pPr>
            <a:r>
              <a:rPr sz="2400" b="0">
                <a:solidFill>
                  <a:srgbClr val="11241D"/>
                </a:solidFill>
                <a:latin typeface="IBM Plex Sans"/>
              </a:rPr>
              <a:t>peserta JKN</a:t>
            </a:r>
          </a:p>
        </p:txBody>
      </p:sp>
      <p:sp>
        <p:nvSpPr>
          <p:cNvPr id="9" name="TextBox 8"/>
          <p:cNvSpPr txBox="1"/>
          <p:nvPr/>
        </p:nvSpPr>
        <p:spPr>
          <a:xfrm>
            <a:off x="457200" y="4389120"/>
            <a:ext cx="3657600" cy="365760"/>
          </a:xfrm>
          <a:prstGeom prst="rect">
            <a:avLst/>
          </a:prstGeom>
          <a:noFill/>
        </p:spPr>
        <p:txBody>
          <a:bodyPr wrap="square" anchor="t" lIns="0" rIns="0" tIns="0" bIns="0">
            <a:spAutoFit/>
          </a:bodyPr>
          <a:lstStyle/>
          <a:p>
            <a:pPr algn="l">
              <a:spcAft>
                <a:spcPts val="600"/>
              </a:spcAft>
            </a:pPr>
            <a:r>
              <a:rPr sz="1600" b="0">
                <a:solidFill>
                  <a:srgbClr val="475B53"/>
                </a:solidFill>
                <a:latin typeface="IBM Plex Sans"/>
              </a:rPr>
              <a:t>Sumber: Statistik BPJS Kesehatan 2018</a:t>
            </a:r>
          </a:p>
        </p:txBody>
      </p:sp>
      <p:sp>
        <p:nvSpPr>
          <p:cNvPr id="10" name="TextBox 9"/>
          <p:cNvSpPr txBox="1"/>
          <p:nvPr/>
        </p:nvSpPr>
        <p:spPr>
          <a:xfrm>
            <a:off x="4297680" y="2468880"/>
            <a:ext cx="3657600" cy="1005840"/>
          </a:xfrm>
          <a:prstGeom prst="rect">
            <a:avLst/>
          </a:prstGeom>
          <a:noFill/>
        </p:spPr>
        <p:txBody>
          <a:bodyPr wrap="square" anchor="t" lIns="0" rIns="0" tIns="0" bIns="0">
            <a:spAutoFit/>
          </a:bodyPr>
          <a:lstStyle/>
          <a:p>
            <a:pPr algn="l">
              <a:spcAft>
                <a:spcPts val="600"/>
              </a:spcAft>
            </a:pPr>
            <a:r>
              <a:rPr sz="5400" b="1">
                <a:solidFill>
                  <a:srgbClr val="007A3A"/>
                </a:solidFill>
                <a:latin typeface="IBM Plex Sans"/>
              </a:rPr>
              <a:t>11,1 juta</a:t>
            </a:r>
          </a:p>
        </p:txBody>
      </p:sp>
      <p:sp>
        <p:nvSpPr>
          <p:cNvPr id="11" name="TextBox 10"/>
          <p:cNvSpPr txBox="1"/>
          <p:nvPr/>
        </p:nvSpPr>
        <p:spPr>
          <a:xfrm>
            <a:off x="4297680" y="3566160"/>
            <a:ext cx="3657600" cy="822960"/>
          </a:xfrm>
          <a:prstGeom prst="rect">
            <a:avLst/>
          </a:prstGeom>
          <a:noFill/>
        </p:spPr>
        <p:txBody>
          <a:bodyPr wrap="square" anchor="t" lIns="0" rIns="0" tIns="0" bIns="0">
            <a:spAutoFit/>
          </a:bodyPr>
          <a:lstStyle/>
          <a:p>
            <a:pPr algn="l">
              <a:spcAft>
                <a:spcPts val="600"/>
              </a:spcAft>
            </a:pPr>
            <a:r>
              <a:rPr sz="2400" b="0">
                <a:solidFill>
                  <a:srgbClr val="11241D"/>
                </a:solidFill>
                <a:latin typeface="IBM Plex Sans"/>
              </a:rPr>
              <a:t>admisi rawat inap tingkat lanjut</a:t>
            </a:r>
          </a:p>
        </p:txBody>
      </p:sp>
      <p:sp>
        <p:nvSpPr>
          <p:cNvPr id="12" name="TextBox 11"/>
          <p:cNvSpPr txBox="1"/>
          <p:nvPr/>
        </p:nvSpPr>
        <p:spPr>
          <a:xfrm>
            <a:off x="4297680" y="4389120"/>
            <a:ext cx="3657600" cy="365760"/>
          </a:xfrm>
          <a:prstGeom prst="rect">
            <a:avLst/>
          </a:prstGeom>
          <a:noFill/>
        </p:spPr>
        <p:txBody>
          <a:bodyPr wrap="square" anchor="t" lIns="0" rIns="0" tIns="0" bIns="0">
            <a:spAutoFit/>
          </a:bodyPr>
          <a:lstStyle/>
          <a:p>
            <a:pPr algn="l">
              <a:spcAft>
                <a:spcPts val="600"/>
              </a:spcAft>
            </a:pPr>
            <a:r>
              <a:rPr sz="1600" b="0">
                <a:solidFill>
                  <a:srgbClr val="475B53"/>
                </a:solidFill>
                <a:latin typeface="IBM Plex Sans"/>
              </a:rPr>
              <a:t>Sumber: Statistik BPJS Kesehatan 2018</a:t>
            </a:r>
          </a:p>
        </p:txBody>
      </p:sp>
      <p:sp>
        <p:nvSpPr>
          <p:cNvPr id="13" name="TextBox 12"/>
          <p:cNvSpPr txBox="1"/>
          <p:nvPr/>
        </p:nvSpPr>
        <p:spPr>
          <a:xfrm>
            <a:off x="8138160" y="2468880"/>
            <a:ext cx="3657600" cy="1005840"/>
          </a:xfrm>
          <a:prstGeom prst="rect">
            <a:avLst/>
          </a:prstGeom>
          <a:noFill/>
        </p:spPr>
        <p:txBody>
          <a:bodyPr wrap="square" anchor="t" lIns="0" rIns="0" tIns="0" bIns="0">
            <a:spAutoFit/>
          </a:bodyPr>
          <a:lstStyle/>
          <a:p>
            <a:pPr algn="l">
              <a:spcAft>
                <a:spcPts val="600"/>
              </a:spcAft>
            </a:pPr>
            <a:r>
              <a:rPr sz="5400" b="1">
                <a:solidFill>
                  <a:srgbClr val="007A3A"/>
                </a:solidFill>
                <a:latin typeface="IBM Plex Sans"/>
              </a:rPr>
              <a:t>Rp 4,75 juta</a:t>
            </a:r>
          </a:p>
        </p:txBody>
      </p:sp>
      <p:sp>
        <p:nvSpPr>
          <p:cNvPr id="14" name="TextBox 13"/>
          <p:cNvSpPr txBox="1"/>
          <p:nvPr/>
        </p:nvSpPr>
        <p:spPr>
          <a:xfrm>
            <a:off x="8138160" y="3566160"/>
            <a:ext cx="3657600" cy="822960"/>
          </a:xfrm>
          <a:prstGeom prst="rect">
            <a:avLst/>
          </a:prstGeom>
          <a:noFill/>
        </p:spPr>
        <p:txBody>
          <a:bodyPr wrap="square" anchor="t" lIns="0" rIns="0" tIns="0" bIns="0">
            <a:spAutoFit/>
          </a:bodyPr>
          <a:lstStyle/>
          <a:p>
            <a:pPr algn="l">
              <a:spcAft>
                <a:spcPts val="600"/>
              </a:spcAft>
            </a:pPr>
            <a:r>
              <a:rPr sz="2400" b="0">
                <a:solidFill>
                  <a:srgbClr val="11241D"/>
                </a:solidFill>
                <a:latin typeface="IBM Plex Sans"/>
              </a:rPr>
              <a:t>rerata biaya klaim per admisi</a:t>
            </a:r>
          </a:p>
        </p:txBody>
      </p:sp>
      <p:sp>
        <p:nvSpPr>
          <p:cNvPr id="15" name="TextBox 14"/>
          <p:cNvSpPr txBox="1"/>
          <p:nvPr/>
        </p:nvSpPr>
        <p:spPr>
          <a:xfrm>
            <a:off x="8138160" y="4389120"/>
            <a:ext cx="3657600" cy="365760"/>
          </a:xfrm>
          <a:prstGeom prst="rect">
            <a:avLst/>
          </a:prstGeom>
          <a:noFill/>
        </p:spPr>
        <p:txBody>
          <a:bodyPr wrap="square" anchor="t" lIns="0" rIns="0" tIns="0" bIns="0">
            <a:spAutoFit/>
          </a:bodyPr>
          <a:lstStyle/>
          <a:p>
            <a:pPr algn="l">
              <a:spcAft>
                <a:spcPts val="600"/>
              </a:spcAft>
            </a:pPr>
            <a:r>
              <a:rPr sz="1600" b="0">
                <a:solidFill>
                  <a:srgbClr val="475B53"/>
                </a:solidFill>
                <a:latin typeface="IBM Plex Sans"/>
              </a:rPr>
              <a:t>Sumber: Statistik BPJS Kesehatan 2018</a:t>
            </a:r>
          </a:p>
        </p:txBody>
      </p:sp>
      <p:sp>
        <p:nvSpPr>
          <p:cNvPr id="16" name="TextBox 15"/>
          <p:cNvSpPr txBox="1"/>
          <p:nvPr/>
        </p:nvSpPr>
        <p:spPr>
          <a:xfrm>
            <a:off x="457200" y="5120640"/>
            <a:ext cx="11247120" cy="914400"/>
          </a:xfrm>
          <a:prstGeom prst="rect">
            <a:avLst/>
          </a:prstGeom>
          <a:noFill/>
        </p:spPr>
        <p:txBody>
          <a:bodyPr wrap="square" anchor="t" lIns="0" rIns="0" tIns="0" bIns="0">
            <a:spAutoFit/>
          </a:bodyPr>
          <a:lstStyle/>
          <a:p>
            <a:pPr algn="l">
              <a:spcAft>
                <a:spcPts val="600"/>
              </a:spcAft>
            </a:pPr>
            <a:r>
              <a:rPr sz="2800" b="1">
                <a:solidFill>
                  <a:srgbClr val="0B291C"/>
                </a:solidFill>
                <a:latin typeface="IBM Plex Sans"/>
              </a:rPr>
              <a:t>Peringatan tanpa konteks membuat verifikator tetap membuka berkas satu per satu.</a:t>
            </a:r>
          </a:p>
        </p:txBody>
      </p:sp>
      <p:sp>
        <p:nvSpPr>
          <p:cNvPr id="17" name="Rectangle 16"/>
          <p:cNvSpPr/>
          <p:nvPr/>
        </p:nvSpPr>
        <p:spPr>
          <a:xfrm>
            <a:off x="8229600" y="822960"/>
            <a:ext cx="3566160" cy="1280160"/>
          </a:xfrm>
          <a:prstGeom prst="rect">
            <a:avLst/>
          </a:prstGeom>
          <a:solidFill>
            <a:srgbClr val="EDF2EF"/>
          </a:solidFill>
          <a:ln w="12700">
            <a:solidFill>
              <a:srgbClr val="475B5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0" y="822960"/>
            <a:ext cx="3566160" cy="1280160"/>
          </a:xfrm>
          <a:prstGeom prst="rect">
            <a:avLst/>
          </a:prstGeom>
          <a:noFill/>
        </p:spPr>
        <p:txBody>
          <a:bodyPr wrap="square" anchor="ctr" lIns="0" rIns="0" tIns="0" bIns="0">
            <a:spAutoFit/>
          </a:bodyPr>
          <a:lstStyle/>
          <a:p>
            <a:pPr algn="ctr">
              <a:spcAft>
                <a:spcPts val="600"/>
              </a:spcAft>
            </a:pPr>
            <a:r>
              <a:rPr sz="1600" b="0">
                <a:solidFill>
                  <a:srgbClr val="475B53"/>
                </a:solidFill>
                <a:latin typeface="IBM Plex Sans"/>
              </a:rPr>
              <a:t>Ilustrasi opsional (kecil)</a:t>
            </a:r>
          </a:p>
          <a:p>
            <a:pPr algn="ctr">
              <a:spcAft>
                <a:spcPts val="600"/>
              </a:spcAft>
            </a:pPr>
            <a:r>
              <a:rPr sz="1600" b="0">
                <a:solidFill>
                  <a:srgbClr val="475B53"/>
                </a:solidFill>
                <a:latin typeface="IBM Plex Sans"/>
              </a:rPr>
              <a:t>slides/images/slide-04.png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rsa_logo.png"/>
          <p:cNvPicPr>
            <a:picLocks noChangeAspect="1"/>
          </p:cNvPicPr>
          <p:nvPr/>
        </p:nvPicPr>
        <p:blipFill>
          <a:blip r:embed="rId2"/>
          <a:stretch>
            <a:fillRect/>
          </a:stretch>
        </p:blipFill>
        <p:spPr>
          <a:xfrm>
            <a:off x="457200" y="320040"/>
            <a:ext cx="592263" cy="457200"/>
          </a:xfrm>
          <a:prstGeom prst="rect">
            <a:avLst/>
          </a:prstGeom>
        </p:spPr>
      </p:pic>
      <p:sp>
        <p:nvSpPr>
          <p:cNvPr id="3" name="TextBox 2"/>
          <p:cNvSpPr txBox="1"/>
          <p:nvPr/>
        </p:nvSpPr>
        <p:spPr>
          <a:xfrm>
            <a:off x="1051560" y="384048"/>
            <a:ext cx="3657600" cy="365760"/>
          </a:xfrm>
          <a:prstGeom prst="rect">
            <a:avLst/>
          </a:prstGeom>
          <a:noFill/>
        </p:spPr>
        <p:txBody>
          <a:bodyPr wrap="square" anchor="t" lIns="0" rIns="0" tIns="0" bIns="0">
            <a:spAutoFit/>
          </a:bodyPr>
          <a:lstStyle/>
          <a:p>
            <a:pPr algn="l">
              <a:spcAft>
                <a:spcPts val="600"/>
              </a:spcAft>
            </a:pPr>
            <a:r>
              <a:rPr sz="1800" b="1">
                <a:solidFill>
                  <a:srgbClr val="0B291C"/>
                </a:solidFill>
                <a:latin typeface="IBM Plex Sans"/>
              </a:rPr>
              <a:t>Arsa AI</a:t>
            </a:r>
          </a:p>
        </p:txBody>
      </p:sp>
      <p:sp>
        <p:nvSpPr>
          <p:cNvPr id="4" name="TextBox 3"/>
          <p:cNvSpPr txBox="1"/>
          <p:nvPr/>
        </p:nvSpPr>
        <p:spPr>
          <a:xfrm>
            <a:off x="7589520" y="384048"/>
            <a:ext cx="4114800" cy="365760"/>
          </a:xfrm>
          <a:prstGeom prst="rect">
            <a:avLst/>
          </a:prstGeom>
          <a:noFill/>
        </p:spPr>
        <p:txBody>
          <a:bodyPr wrap="square" anchor="t" lIns="0" rIns="0" tIns="0" bIns="0">
            <a:spAutoFit/>
          </a:bodyPr>
          <a:lstStyle/>
          <a:p>
            <a:pPr algn="r">
              <a:spcAft>
                <a:spcPts val="600"/>
              </a:spcAft>
            </a:pPr>
            <a:r>
              <a:rPr sz="1400" b="0">
                <a:solidFill>
                  <a:srgbClr val="475B53"/>
                </a:solidFill>
                <a:latin typeface="IBM Plex Sans"/>
              </a:rPr>
              <a:t>Healthkathon 2026  ·  Detect Smarter, Protect JKN</a:t>
            </a:r>
          </a:p>
        </p:txBody>
      </p:sp>
      <p:sp>
        <p:nvSpPr>
          <p:cNvPr id="5" name="TextBox 4"/>
          <p:cNvSpPr txBox="1"/>
          <p:nvPr/>
        </p:nvSpPr>
        <p:spPr>
          <a:xfrm>
            <a:off x="457200" y="960120"/>
            <a:ext cx="11247120" cy="1188720"/>
          </a:xfrm>
          <a:prstGeom prst="rect">
            <a:avLst/>
          </a:prstGeom>
          <a:noFill/>
        </p:spPr>
        <p:txBody>
          <a:bodyPr wrap="square" anchor="t" lIns="0" rIns="0" tIns="0" bIns="0">
            <a:spAutoFit/>
          </a:bodyPr>
          <a:lstStyle/>
          <a:p>
            <a:pPr algn="l">
              <a:spcAft>
                <a:spcPts val="600"/>
              </a:spcAft>
            </a:pPr>
            <a:r>
              <a:rPr sz="3600" b="1">
                <a:solidFill>
                  <a:srgbClr val="0B291C"/>
                </a:solidFill>
                <a:latin typeface="IBM Plex Sans"/>
              </a:rPr>
              <a:t>Dampak yang kami ukur langsung di aplikasi</a:t>
            </a:r>
          </a:p>
        </p:txBody>
      </p:sp>
      <p:sp>
        <p:nvSpPr>
          <p:cNvPr id="6" name="TextBox 5"/>
          <p:cNvSpPr txBox="1"/>
          <p:nvPr/>
        </p:nvSpPr>
        <p:spPr>
          <a:xfrm>
            <a:off x="11155680" y="6400800"/>
            <a:ext cx="640080" cy="274320"/>
          </a:xfrm>
          <a:prstGeom prst="rect">
            <a:avLst/>
          </a:prstGeom>
          <a:noFill/>
        </p:spPr>
        <p:txBody>
          <a:bodyPr wrap="square" anchor="t" lIns="0" rIns="0" tIns="0" bIns="0">
            <a:spAutoFit/>
          </a:bodyPr>
          <a:lstStyle/>
          <a:p>
            <a:pPr algn="r">
              <a:spcAft>
                <a:spcPts val="600"/>
              </a:spcAft>
            </a:pPr>
            <a:r>
              <a:rPr sz="1400" b="0">
                <a:solidFill>
                  <a:srgbClr val="475B53"/>
                </a:solidFill>
                <a:latin typeface="IBM Plex Sans"/>
              </a:rPr>
              <a:t>5</a:t>
            </a:r>
          </a:p>
        </p:txBody>
      </p:sp>
      <p:sp>
        <p:nvSpPr>
          <p:cNvPr id="7" name="Rectangle 6"/>
          <p:cNvSpPr/>
          <p:nvPr/>
        </p:nvSpPr>
        <p:spPr>
          <a:xfrm>
            <a:off x="457200" y="2194560"/>
            <a:ext cx="3566160" cy="3108960"/>
          </a:xfrm>
          <a:prstGeom prst="rect">
            <a:avLst/>
          </a:prstGeom>
          <a:solidFill>
            <a:srgbClr val="ED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377440"/>
            <a:ext cx="3108960" cy="457200"/>
          </a:xfrm>
          <a:prstGeom prst="rect">
            <a:avLst/>
          </a:prstGeom>
          <a:noFill/>
        </p:spPr>
        <p:txBody>
          <a:bodyPr wrap="square" anchor="t" lIns="0" rIns="0" tIns="0" bIns="0">
            <a:spAutoFit/>
          </a:bodyPr>
          <a:lstStyle/>
          <a:p>
            <a:pPr algn="l">
              <a:spcAft>
                <a:spcPts val="600"/>
              </a:spcAft>
            </a:pPr>
            <a:r>
              <a:rPr sz="2000" b="0">
                <a:solidFill>
                  <a:srgbClr val="475B53"/>
                </a:solidFill>
                <a:latin typeface="IBM Plex Sans"/>
              </a:rPr>
              <a:t>1.503 klaim</a:t>
            </a:r>
          </a:p>
        </p:txBody>
      </p:sp>
      <p:sp>
        <p:nvSpPr>
          <p:cNvPr id="9" name="TextBox 8"/>
          <p:cNvSpPr txBox="1"/>
          <p:nvPr/>
        </p:nvSpPr>
        <p:spPr>
          <a:xfrm>
            <a:off x="685800" y="2926080"/>
            <a:ext cx="3108960" cy="1097280"/>
          </a:xfrm>
          <a:prstGeom prst="rect">
            <a:avLst/>
          </a:prstGeom>
          <a:noFill/>
        </p:spPr>
        <p:txBody>
          <a:bodyPr wrap="square" anchor="t" lIns="0" rIns="0" tIns="0" bIns="0">
            <a:spAutoFit/>
          </a:bodyPr>
          <a:lstStyle/>
          <a:p>
            <a:pPr algn="l">
              <a:spcAft>
                <a:spcPts val="600"/>
              </a:spcAft>
            </a:pPr>
            <a:r>
              <a:rPr sz="4000" b="1">
                <a:solidFill>
                  <a:srgbClr val="007A3A"/>
                </a:solidFill>
                <a:latin typeface="IBM Plex Sans"/>
              </a:rPr>
              <a:t>65 kasus</a:t>
            </a:r>
          </a:p>
        </p:txBody>
      </p:sp>
      <p:sp>
        <p:nvSpPr>
          <p:cNvPr id="10" name="TextBox 9"/>
          <p:cNvSpPr txBox="1"/>
          <p:nvPr/>
        </p:nvSpPr>
        <p:spPr>
          <a:xfrm>
            <a:off x="685800" y="4206240"/>
            <a:ext cx="3108960" cy="914400"/>
          </a:xfrm>
          <a:prstGeom prst="rect">
            <a:avLst/>
          </a:prstGeom>
          <a:noFill/>
        </p:spPr>
        <p:txBody>
          <a:bodyPr wrap="square" anchor="t" lIns="0" rIns="0" tIns="0" bIns="0">
            <a:spAutoFit/>
          </a:bodyPr>
          <a:lstStyle/>
          <a:p>
            <a:pPr algn="l">
              <a:spcAft>
                <a:spcPts val="600"/>
              </a:spcAft>
            </a:pPr>
            <a:r>
              <a:rPr sz="1800" b="0">
                <a:solidFill>
                  <a:srgbClr val="11241D"/>
                </a:solidFill>
                <a:latin typeface="IBM Plex Sans"/>
              </a:rPr>
              <a:t>Beban awal pemeriksaan turun sekitar 96%</a:t>
            </a:r>
          </a:p>
        </p:txBody>
      </p:sp>
      <p:sp>
        <p:nvSpPr>
          <p:cNvPr id="11" name="Rectangle 10"/>
          <p:cNvSpPr/>
          <p:nvPr/>
        </p:nvSpPr>
        <p:spPr>
          <a:xfrm>
            <a:off x="4297680" y="2194560"/>
            <a:ext cx="3566160" cy="3108960"/>
          </a:xfrm>
          <a:prstGeom prst="rect">
            <a:avLst/>
          </a:prstGeom>
          <a:solidFill>
            <a:srgbClr val="ED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6280" y="2377440"/>
            <a:ext cx="3108960" cy="457200"/>
          </a:xfrm>
          <a:prstGeom prst="rect">
            <a:avLst/>
          </a:prstGeom>
          <a:noFill/>
        </p:spPr>
        <p:txBody>
          <a:bodyPr wrap="square" anchor="t" lIns="0" rIns="0" tIns="0" bIns="0">
            <a:spAutoFit/>
          </a:bodyPr>
          <a:lstStyle/>
          <a:p>
            <a:pPr algn="l">
              <a:spcAft>
                <a:spcPts val="600"/>
              </a:spcAft>
            </a:pPr>
            <a:r>
              <a:rPr sz="2000" b="0">
                <a:solidFill>
                  <a:srgbClr val="475B53"/>
                </a:solidFill>
                <a:latin typeface="IBM Plex Sans"/>
              </a:rPr>
              <a:t>Skor tanpa alasan</a:t>
            </a:r>
          </a:p>
        </p:txBody>
      </p:sp>
      <p:sp>
        <p:nvSpPr>
          <p:cNvPr id="13" name="TextBox 12"/>
          <p:cNvSpPr txBox="1"/>
          <p:nvPr/>
        </p:nvSpPr>
        <p:spPr>
          <a:xfrm>
            <a:off x="4526280" y="2926080"/>
            <a:ext cx="3108960" cy="1097280"/>
          </a:xfrm>
          <a:prstGeom prst="rect">
            <a:avLst/>
          </a:prstGeom>
          <a:noFill/>
        </p:spPr>
        <p:txBody>
          <a:bodyPr wrap="square" anchor="t" lIns="0" rIns="0" tIns="0" bIns="0">
            <a:spAutoFit/>
          </a:bodyPr>
          <a:lstStyle/>
          <a:p>
            <a:pPr algn="l">
              <a:spcAft>
                <a:spcPts val="600"/>
              </a:spcAft>
            </a:pPr>
            <a:r>
              <a:rPr sz="4000" b="1">
                <a:solidFill>
                  <a:srgbClr val="007A3A"/>
                </a:solidFill>
                <a:latin typeface="IBM Plex Sans"/>
              </a:rPr>
              <a:t>97%</a:t>
            </a:r>
          </a:p>
        </p:txBody>
      </p:sp>
      <p:sp>
        <p:nvSpPr>
          <p:cNvPr id="14" name="TextBox 13"/>
          <p:cNvSpPr txBox="1"/>
          <p:nvPr/>
        </p:nvSpPr>
        <p:spPr>
          <a:xfrm>
            <a:off x="4526280" y="4206240"/>
            <a:ext cx="3108960" cy="914400"/>
          </a:xfrm>
          <a:prstGeom prst="rect">
            <a:avLst/>
          </a:prstGeom>
          <a:noFill/>
        </p:spPr>
        <p:txBody>
          <a:bodyPr wrap="square" anchor="t" lIns="0" rIns="0" tIns="0" bIns="0">
            <a:spAutoFit/>
          </a:bodyPr>
          <a:lstStyle/>
          <a:p>
            <a:pPr algn="l">
              <a:spcAft>
                <a:spcPts val="600"/>
              </a:spcAft>
            </a:pPr>
            <a:r>
              <a:rPr sz="1800" b="0">
                <a:solidFill>
                  <a:srgbClr val="11241D"/>
                </a:solidFill>
                <a:latin typeface="IBM Plex Sans"/>
              </a:rPr>
              <a:t>temuan memuat sitasi bukti valid (125 dari 129)</a:t>
            </a:r>
          </a:p>
        </p:txBody>
      </p:sp>
      <p:sp>
        <p:nvSpPr>
          <p:cNvPr id="15" name="Rectangle 14"/>
          <p:cNvSpPr/>
          <p:nvPr/>
        </p:nvSpPr>
        <p:spPr>
          <a:xfrm>
            <a:off x="8138160" y="2194560"/>
            <a:ext cx="3566160" cy="3108960"/>
          </a:xfrm>
          <a:prstGeom prst="rect">
            <a:avLst/>
          </a:prstGeom>
          <a:solidFill>
            <a:srgbClr val="ED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66760" y="2377440"/>
            <a:ext cx="3108960" cy="457200"/>
          </a:xfrm>
          <a:prstGeom prst="rect">
            <a:avLst/>
          </a:prstGeom>
          <a:noFill/>
        </p:spPr>
        <p:txBody>
          <a:bodyPr wrap="square" anchor="t" lIns="0" rIns="0" tIns="0" bIns="0">
            <a:spAutoFit/>
          </a:bodyPr>
          <a:lstStyle/>
          <a:p>
            <a:pPr algn="l">
              <a:spcAft>
                <a:spcPts val="600"/>
              </a:spcAft>
            </a:pPr>
            <a:r>
              <a:rPr sz="2000" b="0">
                <a:solidFill>
                  <a:srgbClr val="475B53"/>
                </a:solidFill>
                <a:latin typeface="IBM Plex Sans"/>
              </a:rPr>
              <a:t>Ambang tunggal F1 0,269</a:t>
            </a:r>
          </a:p>
        </p:txBody>
      </p:sp>
      <p:sp>
        <p:nvSpPr>
          <p:cNvPr id="17" name="TextBox 16"/>
          <p:cNvSpPr txBox="1"/>
          <p:nvPr/>
        </p:nvSpPr>
        <p:spPr>
          <a:xfrm>
            <a:off x="8366760" y="2926080"/>
            <a:ext cx="3108960" cy="1097280"/>
          </a:xfrm>
          <a:prstGeom prst="rect">
            <a:avLst/>
          </a:prstGeom>
          <a:noFill/>
        </p:spPr>
        <p:txBody>
          <a:bodyPr wrap="square" anchor="t" lIns="0" rIns="0" tIns="0" bIns="0">
            <a:spAutoFit/>
          </a:bodyPr>
          <a:lstStyle/>
          <a:p>
            <a:pPr algn="l">
              <a:spcAft>
                <a:spcPts val="600"/>
              </a:spcAft>
            </a:pPr>
            <a:r>
              <a:rPr sz="4000" b="1">
                <a:solidFill>
                  <a:srgbClr val="007A3A"/>
                </a:solidFill>
                <a:latin typeface="IBM Plex Sans"/>
              </a:rPr>
              <a:t>ARSA F1 0,811</a:t>
            </a:r>
          </a:p>
        </p:txBody>
      </p:sp>
      <p:sp>
        <p:nvSpPr>
          <p:cNvPr id="18" name="TextBox 17"/>
          <p:cNvSpPr txBox="1"/>
          <p:nvPr/>
        </p:nvSpPr>
        <p:spPr>
          <a:xfrm>
            <a:off x="8366760" y="4206240"/>
            <a:ext cx="3108960" cy="914400"/>
          </a:xfrm>
          <a:prstGeom prst="rect">
            <a:avLst/>
          </a:prstGeom>
          <a:noFill/>
        </p:spPr>
        <p:txBody>
          <a:bodyPr wrap="square" anchor="t" lIns="0" rIns="0" tIns="0" bIns="0">
            <a:spAutoFit/>
          </a:bodyPr>
          <a:lstStyle/>
          <a:p>
            <a:pPr algn="l">
              <a:spcAft>
                <a:spcPts val="600"/>
              </a:spcAft>
            </a:pPr>
            <a:r>
              <a:rPr sz="1800" b="0">
                <a:solidFill>
                  <a:srgbClr val="11241D"/>
                </a:solidFill>
                <a:latin typeface="IBM Plex Sans"/>
              </a:rPr>
              <a:t>recall 90,4%, klaim normal ditandai 2,3%</a:t>
            </a:r>
          </a:p>
        </p:txBody>
      </p:sp>
      <p:sp>
        <p:nvSpPr>
          <p:cNvPr id="19" name="Rectangle 18"/>
          <p:cNvSpPr/>
          <p:nvPr/>
        </p:nvSpPr>
        <p:spPr>
          <a:xfrm>
            <a:off x="457200" y="5577840"/>
            <a:ext cx="11247120" cy="548640"/>
          </a:xfrm>
          <a:prstGeom prst="rect">
            <a:avLst/>
          </a:prstGeom>
          <a:solidFill>
            <a:srgbClr val="FEF3C7"/>
          </a:solidFill>
          <a:ln w="12700">
            <a:solidFill>
              <a:srgbClr val="CA8A0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577840"/>
            <a:ext cx="10881360" cy="548640"/>
          </a:xfrm>
          <a:prstGeom prst="rect">
            <a:avLst/>
          </a:prstGeom>
          <a:noFill/>
        </p:spPr>
        <p:txBody>
          <a:bodyPr wrap="square" anchor="ctr" lIns="0" rIns="0" tIns="0" bIns="0">
            <a:spAutoFit/>
          </a:bodyPr>
          <a:lstStyle/>
          <a:p>
            <a:pPr algn="l">
              <a:spcAft>
                <a:spcPts val="600"/>
              </a:spcAft>
            </a:pPr>
            <a:r>
              <a:rPr sz="1800" b="0">
                <a:solidFill>
                  <a:srgbClr val="92400E"/>
                </a:solidFill>
                <a:latin typeface="IBM Plex Sans"/>
              </a:rPr>
              <a:t>Diukur pada data sintetis berlabel; belum divalidasi pada klaim riil.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rsa_logo.png"/>
          <p:cNvPicPr>
            <a:picLocks noChangeAspect="1"/>
          </p:cNvPicPr>
          <p:nvPr/>
        </p:nvPicPr>
        <p:blipFill>
          <a:blip r:embed="rId2"/>
          <a:stretch>
            <a:fillRect/>
          </a:stretch>
        </p:blipFill>
        <p:spPr>
          <a:xfrm>
            <a:off x="457200" y="320040"/>
            <a:ext cx="592263" cy="457200"/>
          </a:xfrm>
          <a:prstGeom prst="rect">
            <a:avLst/>
          </a:prstGeom>
        </p:spPr>
      </p:pic>
      <p:sp>
        <p:nvSpPr>
          <p:cNvPr id="3" name="TextBox 2"/>
          <p:cNvSpPr txBox="1"/>
          <p:nvPr/>
        </p:nvSpPr>
        <p:spPr>
          <a:xfrm>
            <a:off x="1051560" y="384048"/>
            <a:ext cx="3657600" cy="365760"/>
          </a:xfrm>
          <a:prstGeom prst="rect">
            <a:avLst/>
          </a:prstGeom>
          <a:noFill/>
        </p:spPr>
        <p:txBody>
          <a:bodyPr wrap="square" anchor="t" lIns="0" rIns="0" tIns="0" bIns="0">
            <a:spAutoFit/>
          </a:bodyPr>
          <a:lstStyle/>
          <a:p>
            <a:pPr algn="l">
              <a:spcAft>
                <a:spcPts val="600"/>
              </a:spcAft>
            </a:pPr>
            <a:r>
              <a:rPr sz="1800" b="1">
                <a:solidFill>
                  <a:srgbClr val="0B291C"/>
                </a:solidFill>
                <a:latin typeface="IBM Plex Sans"/>
              </a:rPr>
              <a:t>Arsa AI</a:t>
            </a:r>
          </a:p>
        </p:txBody>
      </p:sp>
      <p:sp>
        <p:nvSpPr>
          <p:cNvPr id="4" name="TextBox 3"/>
          <p:cNvSpPr txBox="1"/>
          <p:nvPr/>
        </p:nvSpPr>
        <p:spPr>
          <a:xfrm>
            <a:off x="7589520" y="384048"/>
            <a:ext cx="4114800" cy="365760"/>
          </a:xfrm>
          <a:prstGeom prst="rect">
            <a:avLst/>
          </a:prstGeom>
          <a:noFill/>
        </p:spPr>
        <p:txBody>
          <a:bodyPr wrap="square" anchor="t" lIns="0" rIns="0" tIns="0" bIns="0">
            <a:spAutoFit/>
          </a:bodyPr>
          <a:lstStyle/>
          <a:p>
            <a:pPr algn="r">
              <a:spcAft>
                <a:spcPts val="600"/>
              </a:spcAft>
            </a:pPr>
            <a:r>
              <a:rPr sz="1400" b="0">
                <a:solidFill>
                  <a:srgbClr val="475B53"/>
                </a:solidFill>
                <a:latin typeface="IBM Plex Sans"/>
              </a:rPr>
              <a:t>Healthkathon 2026  ·  Detect Smarter, Protect JKN</a:t>
            </a:r>
          </a:p>
        </p:txBody>
      </p:sp>
      <p:sp>
        <p:nvSpPr>
          <p:cNvPr id="5" name="TextBox 4"/>
          <p:cNvSpPr txBox="1"/>
          <p:nvPr/>
        </p:nvSpPr>
        <p:spPr>
          <a:xfrm>
            <a:off x="457200" y="960120"/>
            <a:ext cx="11247120" cy="1188720"/>
          </a:xfrm>
          <a:prstGeom prst="rect">
            <a:avLst/>
          </a:prstGeom>
          <a:noFill/>
        </p:spPr>
        <p:txBody>
          <a:bodyPr wrap="square" anchor="t" lIns="0" rIns="0" tIns="0" bIns="0">
            <a:spAutoFit/>
          </a:bodyPr>
          <a:lstStyle/>
          <a:p>
            <a:pPr algn="l">
              <a:spcAft>
                <a:spcPts val="600"/>
              </a:spcAft>
            </a:pPr>
            <a:r>
              <a:rPr sz="3600" b="1">
                <a:solidFill>
                  <a:srgbClr val="0B291C"/>
                </a:solidFill>
                <a:latin typeface="IBM Plex Sans"/>
              </a:rPr>
              <a:t>Dari berkas klaim sampai keputusan yang tercatat</a:t>
            </a:r>
          </a:p>
        </p:txBody>
      </p:sp>
      <p:sp>
        <p:nvSpPr>
          <p:cNvPr id="6" name="TextBox 5"/>
          <p:cNvSpPr txBox="1"/>
          <p:nvPr/>
        </p:nvSpPr>
        <p:spPr>
          <a:xfrm>
            <a:off x="11155680" y="6400800"/>
            <a:ext cx="640080" cy="274320"/>
          </a:xfrm>
          <a:prstGeom prst="rect">
            <a:avLst/>
          </a:prstGeom>
          <a:noFill/>
        </p:spPr>
        <p:txBody>
          <a:bodyPr wrap="square" anchor="t" lIns="0" rIns="0" tIns="0" bIns="0">
            <a:spAutoFit/>
          </a:bodyPr>
          <a:lstStyle/>
          <a:p>
            <a:pPr algn="r">
              <a:spcAft>
                <a:spcPts val="600"/>
              </a:spcAft>
            </a:pPr>
            <a:r>
              <a:rPr sz="1400" b="0">
                <a:solidFill>
                  <a:srgbClr val="475B53"/>
                </a:solidFill>
                <a:latin typeface="IBM Plex Sans"/>
              </a:rPr>
              <a:t>6</a:t>
            </a:r>
          </a:p>
        </p:txBody>
      </p:sp>
      <p:sp>
        <p:nvSpPr>
          <p:cNvPr id="7" name="Rectangle 6"/>
          <p:cNvSpPr/>
          <p:nvPr/>
        </p:nvSpPr>
        <p:spPr>
          <a:xfrm>
            <a:off x="457200" y="2103120"/>
            <a:ext cx="2103120" cy="2286000"/>
          </a:xfrm>
          <a:prstGeom prst="rect">
            <a:avLst/>
          </a:prstGeom>
          <a:solidFill>
            <a:srgbClr val="ED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2240280"/>
            <a:ext cx="1828800" cy="457200"/>
          </a:xfrm>
          <a:prstGeom prst="rect">
            <a:avLst/>
          </a:prstGeom>
          <a:noFill/>
        </p:spPr>
        <p:txBody>
          <a:bodyPr wrap="square" anchor="t" lIns="0" rIns="0" tIns="0" bIns="0">
            <a:spAutoFit/>
          </a:bodyPr>
          <a:lstStyle/>
          <a:p>
            <a:pPr algn="l">
              <a:spcAft>
                <a:spcPts val="600"/>
              </a:spcAft>
            </a:pPr>
            <a:r>
              <a:rPr sz="2000" b="1">
                <a:solidFill>
                  <a:srgbClr val="0B291C"/>
                </a:solidFill>
                <a:latin typeface="IBM Plex Sans"/>
              </a:rPr>
              <a:t>1. Input</a:t>
            </a:r>
          </a:p>
        </p:txBody>
      </p:sp>
      <p:sp>
        <p:nvSpPr>
          <p:cNvPr id="9" name="TextBox 8"/>
          <p:cNvSpPr txBox="1"/>
          <p:nvPr/>
        </p:nvSpPr>
        <p:spPr>
          <a:xfrm>
            <a:off x="594360" y="2788920"/>
            <a:ext cx="1828800" cy="1554480"/>
          </a:xfrm>
          <a:prstGeom prst="rect">
            <a:avLst/>
          </a:prstGeom>
          <a:noFill/>
        </p:spPr>
        <p:txBody>
          <a:bodyPr wrap="square" anchor="t" lIns="0" rIns="0" tIns="0" bIns="0">
            <a:spAutoFit/>
          </a:bodyPr>
          <a:lstStyle/>
          <a:p>
            <a:pPr algn="l">
              <a:spcAft>
                <a:spcPts val="600"/>
              </a:spcAft>
            </a:pPr>
            <a:r>
              <a:rPr sz="1600" b="0">
                <a:solidFill>
                  <a:srgbClr val="11241D"/>
                </a:solidFill>
                <a:latin typeface="IBM Plex Sans"/>
              </a:rPr>
              <a:t>CSV, XLSX, JSON, atau sampel BPJS</a:t>
            </a:r>
          </a:p>
        </p:txBody>
      </p:sp>
      <p:sp>
        <p:nvSpPr>
          <p:cNvPr id="10" name="Rectangle 9"/>
          <p:cNvSpPr/>
          <p:nvPr/>
        </p:nvSpPr>
        <p:spPr>
          <a:xfrm>
            <a:off x="2743200" y="2103120"/>
            <a:ext cx="2103120" cy="2286000"/>
          </a:xfrm>
          <a:prstGeom prst="rect">
            <a:avLst/>
          </a:prstGeom>
          <a:solidFill>
            <a:srgbClr val="ED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80360" y="2240280"/>
            <a:ext cx="1828800" cy="457200"/>
          </a:xfrm>
          <a:prstGeom prst="rect">
            <a:avLst/>
          </a:prstGeom>
          <a:noFill/>
        </p:spPr>
        <p:txBody>
          <a:bodyPr wrap="square" anchor="t" lIns="0" rIns="0" tIns="0" bIns="0">
            <a:spAutoFit/>
          </a:bodyPr>
          <a:lstStyle/>
          <a:p>
            <a:pPr algn="l">
              <a:spcAft>
                <a:spcPts val="600"/>
              </a:spcAft>
            </a:pPr>
            <a:r>
              <a:rPr sz="2000" b="1">
                <a:solidFill>
                  <a:srgbClr val="0B291C"/>
                </a:solidFill>
                <a:latin typeface="IBM Plex Sans"/>
              </a:rPr>
              <a:t>2. Proses</a:t>
            </a:r>
          </a:p>
        </p:txBody>
      </p:sp>
      <p:sp>
        <p:nvSpPr>
          <p:cNvPr id="12" name="TextBox 11"/>
          <p:cNvSpPr txBox="1"/>
          <p:nvPr/>
        </p:nvSpPr>
        <p:spPr>
          <a:xfrm>
            <a:off x="2880360" y="2788920"/>
            <a:ext cx="1828800" cy="1554480"/>
          </a:xfrm>
          <a:prstGeom prst="rect">
            <a:avLst/>
          </a:prstGeom>
          <a:noFill/>
        </p:spPr>
        <p:txBody>
          <a:bodyPr wrap="square" anchor="t" lIns="0" rIns="0" tIns="0" bIns="0">
            <a:spAutoFit/>
          </a:bodyPr>
          <a:lstStyle/>
          <a:p>
            <a:pPr algn="l">
              <a:spcAft>
                <a:spcPts val="600"/>
              </a:spcAft>
            </a:pPr>
            <a:r>
              <a:rPr sz="1600" b="0">
                <a:solidFill>
                  <a:srgbClr val="11241D"/>
                </a:solidFill>
                <a:latin typeface="IBM Plex Sans"/>
              </a:rPr>
              <a:t>Identitas disamarkan, kolom dipetakan, baris tidak valid ditolak</a:t>
            </a:r>
          </a:p>
        </p:txBody>
      </p:sp>
      <p:sp>
        <p:nvSpPr>
          <p:cNvPr id="13" name="Rectangle 12"/>
          <p:cNvSpPr/>
          <p:nvPr/>
        </p:nvSpPr>
        <p:spPr>
          <a:xfrm>
            <a:off x="5029200" y="2103120"/>
            <a:ext cx="2103120" cy="2286000"/>
          </a:xfrm>
          <a:prstGeom prst="rect">
            <a:avLst/>
          </a:prstGeom>
          <a:solidFill>
            <a:srgbClr val="0B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6360" y="2240280"/>
            <a:ext cx="1828800" cy="457200"/>
          </a:xfrm>
          <a:prstGeom prst="rect">
            <a:avLst/>
          </a:prstGeom>
          <a:noFill/>
        </p:spPr>
        <p:txBody>
          <a:bodyPr wrap="square" anchor="t" lIns="0" rIns="0" tIns="0" bIns="0">
            <a:spAutoFit/>
          </a:bodyPr>
          <a:lstStyle/>
          <a:p>
            <a:pPr algn="l">
              <a:spcAft>
                <a:spcPts val="600"/>
              </a:spcAft>
            </a:pPr>
            <a:r>
              <a:rPr sz="2000" b="1">
                <a:solidFill>
                  <a:srgbClr val="FFFFFF"/>
                </a:solidFill>
                <a:latin typeface="IBM Plex Sans"/>
              </a:rPr>
              <a:t>3. Analisis AI</a:t>
            </a:r>
          </a:p>
        </p:txBody>
      </p:sp>
      <p:sp>
        <p:nvSpPr>
          <p:cNvPr id="15" name="TextBox 14"/>
          <p:cNvSpPr txBox="1"/>
          <p:nvPr/>
        </p:nvSpPr>
        <p:spPr>
          <a:xfrm>
            <a:off x="5166360" y="2788920"/>
            <a:ext cx="1828800" cy="1554480"/>
          </a:xfrm>
          <a:prstGeom prst="rect">
            <a:avLst/>
          </a:prstGeom>
          <a:noFill/>
        </p:spPr>
        <p:txBody>
          <a:bodyPr wrap="square" anchor="t" lIns="0" rIns="0" tIns="0" bIns="0">
            <a:spAutoFit/>
          </a:bodyPr>
          <a:lstStyle/>
          <a:p>
            <a:pPr algn="l">
              <a:spcAft>
                <a:spcPts val="600"/>
              </a:spcAft>
            </a:pPr>
            <a:r>
              <a:rPr sz="1600" b="0">
                <a:solidFill>
                  <a:srgbClr val="FFFFFF"/>
                </a:solidFill>
                <a:latin typeface="IBM Plex Sans"/>
              </a:rPr>
              <a:t>8 detektor dan benchmark per diagnosis, kelas, provinsi</a:t>
            </a:r>
          </a:p>
        </p:txBody>
      </p:sp>
      <p:sp>
        <p:nvSpPr>
          <p:cNvPr id="16" name="Rectangle 15"/>
          <p:cNvSpPr/>
          <p:nvPr/>
        </p:nvSpPr>
        <p:spPr>
          <a:xfrm>
            <a:off x="7315200" y="2103120"/>
            <a:ext cx="2103120" cy="2286000"/>
          </a:xfrm>
          <a:prstGeom prst="rect">
            <a:avLst/>
          </a:prstGeom>
          <a:solidFill>
            <a:srgbClr val="ED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52360" y="2240280"/>
            <a:ext cx="1828800" cy="457200"/>
          </a:xfrm>
          <a:prstGeom prst="rect">
            <a:avLst/>
          </a:prstGeom>
          <a:noFill/>
        </p:spPr>
        <p:txBody>
          <a:bodyPr wrap="square" anchor="t" lIns="0" rIns="0" tIns="0" bIns="0">
            <a:spAutoFit/>
          </a:bodyPr>
          <a:lstStyle/>
          <a:p>
            <a:pPr algn="l">
              <a:spcAft>
                <a:spcPts val="600"/>
              </a:spcAft>
            </a:pPr>
            <a:r>
              <a:rPr sz="2000" b="1">
                <a:solidFill>
                  <a:srgbClr val="0B291C"/>
                </a:solidFill>
                <a:latin typeface="IBM Plex Sans"/>
              </a:rPr>
              <a:t>4. Output</a:t>
            </a:r>
          </a:p>
        </p:txBody>
      </p:sp>
      <p:sp>
        <p:nvSpPr>
          <p:cNvPr id="18" name="TextBox 17"/>
          <p:cNvSpPr txBox="1"/>
          <p:nvPr/>
        </p:nvSpPr>
        <p:spPr>
          <a:xfrm>
            <a:off x="7452360" y="2788920"/>
            <a:ext cx="1828800" cy="1554480"/>
          </a:xfrm>
          <a:prstGeom prst="rect">
            <a:avLst/>
          </a:prstGeom>
          <a:noFill/>
        </p:spPr>
        <p:txBody>
          <a:bodyPr wrap="square" anchor="t" lIns="0" rIns="0" tIns="0" bIns="0">
            <a:spAutoFit/>
          </a:bodyPr>
          <a:lstStyle/>
          <a:p>
            <a:pPr algn="l">
              <a:spcAft>
                <a:spcPts val="600"/>
              </a:spcAft>
            </a:pPr>
            <a:r>
              <a:rPr sz="1600" b="0">
                <a:solidFill>
                  <a:srgbClr val="11241D"/>
                </a:solidFill>
                <a:latin typeface="IBM Plex Sans"/>
              </a:rPr>
              <a:t>Antrean prioritas, bukti, dosier PDF</a:t>
            </a:r>
          </a:p>
        </p:txBody>
      </p:sp>
      <p:sp>
        <p:nvSpPr>
          <p:cNvPr id="19" name="Rectangle 18"/>
          <p:cNvSpPr/>
          <p:nvPr/>
        </p:nvSpPr>
        <p:spPr>
          <a:xfrm>
            <a:off x="9601200" y="2103120"/>
            <a:ext cx="2103120" cy="2286000"/>
          </a:xfrm>
          <a:prstGeom prst="rect">
            <a:avLst/>
          </a:prstGeom>
          <a:solidFill>
            <a:srgbClr val="ED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38360" y="2240280"/>
            <a:ext cx="1828800" cy="457200"/>
          </a:xfrm>
          <a:prstGeom prst="rect">
            <a:avLst/>
          </a:prstGeom>
          <a:noFill/>
        </p:spPr>
        <p:txBody>
          <a:bodyPr wrap="square" anchor="t" lIns="0" rIns="0" tIns="0" bIns="0">
            <a:spAutoFit/>
          </a:bodyPr>
          <a:lstStyle/>
          <a:p>
            <a:pPr algn="l">
              <a:spcAft>
                <a:spcPts val="600"/>
              </a:spcAft>
            </a:pPr>
            <a:r>
              <a:rPr sz="2000" b="1">
                <a:solidFill>
                  <a:srgbClr val="0B291C"/>
                </a:solidFill>
                <a:latin typeface="IBM Plex Sans"/>
              </a:rPr>
              <a:t>5. Tindak lanjut</a:t>
            </a:r>
          </a:p>
        </p:txBody>
      </p:sp>
      <p:sp>
        <p:nvSpPr>
          <p:cNvPr id="21" name="TextBox 20"/>
          <p:cNvSpPr txBox="1"/>
          <p:nvPr/>
        </p:nvSpPr>
        <p:spPr>
          <a:xfrm>
            <a:off x="9738360" y="2788920"/>
            <a:ext cx="1828800" cy="1554480"/>
          </a:xfrm>
          <a:prstGeom prst="rect">
            <a:avLst/>
          </a:prstGeom>
          <a:noFill/>
        </p:spPr>
        <p:txBody>
          <a:bodyPr wrap="square" anchor="t" lIns="0" rIns="0" tIns="0" bIns="0">
            <a:spAutoFit/>
          </a:bodyPr>
          <a:lstStyle/>
          <a:p>
            <a:pPr algn="l">
              <a:spcAft>
                <a:spcPts val="600"/>
              </a:spcAft>
            </a:pPr>
            <a:r>
              <a:rPr sz="1600" b="0">
                <a:solidFill>
                  <a:srgbClr val="11241D"/>
                </a:solidFill>
                <a:latin typeface="IBM Plex Sans"/>
              </a:rPr>
              <a:t>Status dan alasan tertulis, tercatat di rantai audit</a:t>
            </a:r>
          </a:p>
        </p:txBody>
      </p:sp>
      <p:sp>
        <p:nvSpPr>
          <p:cNvPr id="22" name="TextBox 21"/>
          <p:cNvSpPr txBox="1"/>
          <p:nvPr/>
        </p:nvSpPr>
        <p:spPr>
          <a:xfrm>
            <a:off x="457200" y="4754880"/>
            <a:ext cx="3657600" cy="365760"/>
          </a:xfrm>
          <a:prstGeom prst="rect">
            <a:avLst/>
          </a:prstGeom>
          <a:noFill/>
        </p:spPr>
        <p:txBody>
          <a:bodyPr wrap="square" anchor="t" lIns="0" rIns="0" tIns="0" bIns="0">
            <a:spAutoFit/>
          </a:bodyPr>
          <a:lstStyle/>
          <a:p>
            <a:pPr algn="l">
              <a:spcAft>
                <a:spcPts val="600"/>
              </a:spcAft>
            </a:pPr>
            <a:r>
              <a:rPr sz="2000" b="1">
                <a:solidFill>
                  <a:srgbClr val="007A3A"/>
                </a:solidFill>
                <a:latin typeface="IBM Plex Sans"/>
              </a:rPr>
              <a:t>Pengguna</a:t>
            </a:r>
          </a:p>
        </p:txBody>
      </p:sp>
      <p:sp>
        <p:nvSpPr>
          <p:cNvPr id="23" name="TextBox 22"/>
          <p:cNvSpPr txBox="1"/>
          <p:nvPr/>
        </p:nvSpPr>
        <p:spPr>
          <a:xfrm>
            <a:off x="457200" y="5212080"/>
            <a:ext cx="3566160" cy="1097280"/>
          </a:xfrm>
          <a:prstGeom prst="rect">
            <a:avLst/>
          </a:prstGeom>
          <a:noFill/>
        </p:spPr>
        <p:txBody>
          <a:bodyPr wrap="square" anchor="t" lIns="0" rIns="0" tIns="0" bIns="0">
            <a:spAutoFit/>
          </a:bodyPr>
          <a:lstStyle/>
          <a:p>
            <a:pPr algn="l">
              <a:spcAft>
                <a:spcPts val="600"/>
              </a:spcAft>
            </a:pPr>
            <a:r>
              <a:rPr sz="1600" b="0">
                <a:solidFill>
                  <a:srgbClr val="475B53"/>
                </a:solidFill>
                <a:latin typeface="IBM Plex Sans"/>
              </a:rPr>
              <a:t>Investigator, Supervisor, Administrator</a:t>
            </a:r>
          </a:p>
        </p:txBody>
      </p:sp>
      <p:sp>
        <p:nvSpPr>
          <p:cNvPr id="24" name="TextBox 23"/>
          <p:cNvSpPr txBox="1"/>
          <p:nvPr/>
        </p:nvSpPr>
        <p:spPr>
          <a:xfrm>
            <a:off x="4297680" y="4754880"/>
            <a:ext cx="3657600" cy="365760"/>
          </a:xfrm>
          <a:prstGeom prst="rect">
            <a:avLst/>
          </a:prstGeom>
          <a:noFill/>
        </p:spPr>
        <p:txBody>
          <a:bodyPr wrap="square" anchor="t" lIns="0" rIns="0" tIns="0" bIns="0">
            <a:spAutoFit/>
          </a:bodyPr>
          <a:lstStyle/>
          <a:p>
            <a:pPr algn="l">
              <a:spcAft>
                <a:spcPts val="600"/>
              </a:spcAft>
            </a:pPr>
            <a:r>
              <a:rPr sz="2000" b="1">
                <a:solidFill>
                  <a:srgbClr val="007A3A"/>
                </a:solidFill>
                <a:latin typeface="IBM Plex Sans"/>
              </a:rPr>
              <a:t>Data</a:t>
            </a:r>
          </a:p>
        </p:txBody>
      </p:sp>
      <p:sp>
        <p:nvSpPr>
          <p:cNvPr id="25" name="TextBox 24"/>
          <p:cNvSpPr txBox="1"/>
          <p:nvPr/>
        </p:nvSpPr>
        <p:spPr>
          <a:xfrm>
            <a:off x="4297680" y="5212080"/>
            <a:ext cx="3566160" cy="1097280"/>
          </a:xfrm>
          <a:prstGeom prst="rect">
            <a:avLst/>
          </a:prstGeom>
          <a:noFill/>
        </p:spPr>
        <p:txBody>
          <a:bodyPr wrap="square" anchor="t" lIns="0" rIns="0" tIns="0" bIns="0">
            <a:spAutoFit/>
          </a:bodyPr>
          <a:lstStyle/>
          <a:p>
            <a:pPr algn="l">
              <a:spcAft>
                <a:spcPts val="600"/>
              </a:spcAft>
            </a:pPr>
            <a:r>
              <a:rPr sz="1600" b="0">
                <a:solidFill>
                  <a:srgbClr val="475B53"/>
                </a:solidFill>
                <a:latin typeface="IBM Plex Sans"/>
              </a:rPr>
              <a:t>Statistik resmi BPJS dan data sintetis berlabel, tanpa data peserta riil</a:t>
            </a:r>
          </a:p>
        </p:txBody>
      </p:sp>
      <p:sp>
        <p:nvSpPr>
          <p:cNvPr id="26" name="TextBox 25"/>
          <p:cNvSpPr txBox="1"/>
          <p:nvPr/>
        </p:nvSpPr>
        <p:spPr>
          <a:xfrm>
            <a:off x="8138160" y="4754880"/>
            <a:ext cx="3657600" cy="365760"/>
          </a:xfrm>
          <a:prstGeom prst="rect">
            <a:avLst/>
          </a:prstGeom>
          <a:noFill/>
        </p:spPr>
        <p:txBody>
          <a:bodyPr wrap="square" anchor="t" lIns="0" rIns="0" tIns="0" bIns="0">
            <a:spAutoFit/>
          </a:bodyPr>
          <a:lstStyle/>
          <a:p>
            <a:pPr algn="l">
              <a:spcAft>
                <a:spcPts val="600"/>
              </a:spcAft>
            </a:pPr>
            <a:r>
              <a:rPr sz="2000" b="1">
                <a:solidFill>
                  <a:srgbClr val="007A3A"/>
                </a:solidFill>
                <a:latin typeface="IBM Plex Sans"/>
              </a:rPr>
              <a:t>Teknologi</a:t>
            </a:r>
          </a:p>
        </p:txBody>
      </p:sp>
      <p:sp>
        <p:nvSpPr>
          <p:cNvPr id="27" name="TextBox 26"/>
          <p:cNvSpPr txBox="1"/>
          <p:nvPr/>
        </p:nvSpPr>
        <p:spPr>
          <a:xfrm>
            <a:off x="8138160" y="5212080"/>
            <a:ext cx="3566160" cy="1097280"/>
          </a:xfrm>
          <a:prstGeom prst="rect">
            <a:avLst/>
          </a:prstGeom>
          <a:noFill/>
        </p:spPr>
        <p:txBody>
          <a:bodyPr wrap="square" anchor="t" lIns="0" rIns="0" tIns="0" bIns="0">
            <a:spAutoFit/>
          </a:bodyPr>
          <a:lstStyle/>
          <a:p>
            <a:pPr algn="l">
              <a:spcAft>
                <a:spcPts val="600"/>
              </a:spcAft>
            </a:pPr>
            <a:r>
              <a:rPr sz="1600" b="0">
                <a:solidFill>
                  <a:srgbClr val="475B53"/>
                </a:solidFill>
                <a:latin typeface="IBM Plex Sans"/>
              </a:rPr>
              <a:t>Aturan deterministik, embedding, model bahasa hanya untuk penjelasan bersitasi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arsa_logo.png"/>
          <p:cNvPicPr>
            <a:picLocks noChangeAspect="1"/>
          </p:cNvPicPr>
          <p:nvPr/>
        </p:nvPicPr>
        <p:blipFill>
          <a:blip r:embed="rId2"/>
          <a:stretch>
            <a:fillRect/>
          </a:stretch>
        </p:blipFill>
        <p:spPr>
          <a:xfrm>
            <a:off x="457200" y="320040"/>
            <a:ext cx="592263" cy="457200"/>
          </a:xfrm>
          <a:prstGeom prst="rect">
            <a:avLst/>
          </a:prstGeom>
        </p:spPr>
      </p:pic>
      <p:sp>
        <p:nvSpPr>
          <p:cNvPr id="4" name="TextBox 3"/>
          <p:cNvSpPr txBox="1"/>
          <p:nvPr/>
        </p:nvSpPr>
        <p:spPr>
          <a:xfrm>
            <a:off x="1051560" y="384048"/>
            <a:ext cx="3657600" cy="365760"/>
          </a:xfrm>
          <a:prstGeom prst="rect">
            <a:avLst/>
          </a:prstGeom>
          <a:noFill/>
        </p:spPr>
        <p:txBody>
          <a:bodyPr wrap="square" anchor="t" lIns="0" rIns="0" tIns="0" bIns="0">
            <a:spAutoFit/>
          </a:bodyPr>
          <a:lstStyle/>
          <a:p>
            <a:pPr algn="l">
              <a:spcAft>
                <a:spcPts val="600"/>
              </a:spcAft>
            </a:pPr>
            <a:r>
              <a:rPr sz="1800" b="1">
                <a:solidFill>
                  <a:srgbClr val="FFFFFF"/>
                </a:solidFill>
                <a:latin typeface="IBM Plex Sans"/>
              </a:rPr>
              <a:t>Arsa AI</a:t>
            </a:r>
          </a:p>
        </p:txBody>
      </p:sp>
      <p:sp>
        <p:nvSpPr>
          <p:cNvPr id="5" name="TextBox 4"/>
          <p:cNvSpPr txBox="1"/>
          <p:nvPr/>
        </p:nvSpPr>
        <p:spPr>
          <a:xfrm>
            <a:off x="7589520" y="384048"/>
            <a:ext cx="4114800" cy="365760"/>
          </a:xfrm>
          <a:prstGeom prst="rect">
            <a:avLst/>
          </a:prstGeom>
          <a:noFill/>
        </p:spPr>
        <p:txBody>
          <a:bodyPr wrap="square" anchor="t" lIns="0" rIns="0" tIns="0" bIns="0">
            <a:spAutoFit/>
          </a:bodyPr>
          <a:lstStyle/>
          <a:p>
            <a:pPr algn="r">
              <a:spcAft>
                <a:spcPts val="600"/>
              </a:spcAft>
            </a:pPr>
            <a:r>
              <a:rPr sz="1400" b="0">
                <a:solidFill>
                  <a:srgbClr val="EDF2EF"/>
                </a:solidFill>
                <a:latin typeface="IBM Plex Sans"/>
              </a:rPr>
              <a:t>Healthkathon 2026  ·  Detect Smarter, Protect JKN</a:t>
            </a:r>
          </a:p>
        </p:txBody>
      </p:sp>
      <p:sp>
        <p:nvSpPr>
          <p:cNvPr id="6" name="TextBox 5"/>
          <p:cNvSpPr txBox="1"/>
          <p:nvPr/>
        </p:nvSpPr>
        <p:spPr>
          <a:xfrm>
            <a:off x="11155680" y="6400800"/>
            <a:ext cx="640080" cy="274320"/>
          </a:xfrm>
          <a:prstGeom prst="rect">
            <a:avLst/>
          </a:prstGeom>
          <a:noFill/>
        </p:spPr>
        <p:txBody>
          <a:bodyPr wrap="square" anchor="t" lIns="0" rIns="0" tIns="0" bIns="0">
            <a:spAutoFit/>
          </a:bodyPr>
          <a:lstStyle/>
          <a:p>
            <a:pPr algn="r">
              <a:spcAft>
                <a:spcPts val="600"/>
              </a:spcAft>
            </a:pPr>
            <a:r>
              <a:rPr sz="1400" b="0">
                <a:solidFill>
                  <a:srgbClr val="EDF2EF"/>
                </a:solidFill>
                <a:latin typeface="IBM Plex Sans"/>
              </a:rPr>
              <a:t>7</a:t>
            </a:r>
          </a:p>
        </p:txBody>
      </p:sp>
      <p:sp>
        <p:nvSpPr>
          <p:cNvPr id="7" name="TextBox 6"/>
          <p:cNvSpPr txBox="1"/>
          <p:nvPr/>
        </p:nvSpPr>
        <p:spPr>
          <a:xfrm>
            <a:off x="457200" y="2377440"/>
            <a:ext cx="11247120" cy="1371600"/>
          </a:xfrm>
          <a:prstGeom prst="rect">
            <a:avLst/>
          </a:prstGeom>
          <a:noFill/>
        </p:spPr>
        <p:txBody>
          <a:bodyPr wrap="square" anchor="t" lIns="0" rIns="0" tIns="0" bIns="0">
            <a:spAutoFit/>
          </a:bodyPr>
          <a:lstStyle/>
          <a:p>
            <a:pPr algn="ctr">
              <a:spcAft>
                <a:spcPts val="600"/>
              </a:spcAft>
            </a:pPr>
            <a:r>
              <a:rPr sz="8000" b="1">
                <a:solidFill>
                  <a:srgbClr val="FFFFFF"/>
                </a:solidFill>
                <a:latin typeface="IBM Plex Sans"/>
              </a:rPr>
              <a:t>Demo</a:t>
            </a:r>
          </a:p>
        </p:txBody>
      </p:sp>
      <p:sp>
        <p:nvSpPr>
          <p:cNvPr id="8" name="TextBox 7"/>
          <p:cNvSpPr txBox="1"/>
          <p:nvPr/>
        </p:nvSpPr>
        <p:spPr>
          <a:xfrm>
            <a:off x="457200" y="3931920"/>
            <a:ext cx="11247120" cy="548640"/>
          </a:xfrm>
          <a:prstGeom prst="rect">
            <a:avLst/>
          </a:prstGeom>
          <a:noFill/>
        </p:spPr>
        <p:txBody>
          <a:bodyPr wrap="square" anchor="t" lIns="0" rIns="0" tIns="0" bIns="0">
            <a:spAutoFit/>
          </a:bodyPr>
          <a:lstStyle/>
          <a:p>
            <a:pPr algn="ctr">
              <a:spcAft>
                <a:spcPts val="600"/>
              </a:spcAft>
            </a:pPr>
            <a:r>
              <a:rPr sz="2200" b="0">
                <a:solidFill>
                  <a:srgbClr val="EDF2EF"/>
                </a:solidFill>
                <a:latin typeface="IBM Plex Sans"/>
              </a:rPr>
              <a:t>https://arsa-jkn-627843549213.asia-southeast2.run.app</a:t>
            </a:r>
          </a:p>
        </p:txBody>
      </p:sp>
      <p:sp>
        <p:nvSpPr>
          <p:cNvPr id="9" name="TextBox 8"/>
          <p:cNvSpPr txBox="1"/>
          <p:nvPr/>
        </p:nvSpPr>
        <p:spPr>
          <a:xfrm>
            <a:off x="457200" y="4572000"/>
            <a:ext cx="11247120" cy="457200"/>
          </a:xfrm>
          <a:prstGeom prst="rect">
            <a:avLst/>
          </a:prstGeom>
          <a:noFill/>
        </p:spPr>
        <p:txBody>
          <a:bodyPr wrap="square" anchor="t" lIns="0" rIns="0" tIns="0" bIns="0">
            <a:spAutoFit/>
          </a:bodyPr>
          <a:lstStyle/>
          <a:p>
            <a:pPr algn="ctr">
              <a:spcAft>
                <a:spcPts val="600"/>
              </a:spcAft>
            </a:pPr>
            <a:r>
              <a:rPr sz="1800" b="0">
                <a:solidFill>
                  <a:srgbClr val="EDF2EF"/>
                </a:solidFill>
                <a:latin typeface="IBM Plex Sans"/>
              </a:rPr>
              <a:t>Masuk: supervisor@arsa.id  ·  Arsa#2026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rsa_logo.png"/>
          <p:cNvPicPr>
            <a:picLocks noChangeAspect="1"/>
          </p:cNvPicPr>
          <p:nvPr/>
        </p:nvPicPr>
        <p:blipFill>
          <a:blip r:embed="rId2"/>
          <a:stretch>
            <a:fillRect/>
          </a:stretch>
        </p:blipFill>
        <p:spPr>
          <a:xfrm>
            <a:off x="457200" y="320040"/>
            <a:ext cx="592263" cy="457200"/>
          </a:xfrm>
          <a:prstGeom prst="rect">
            <a:avLst/>
          </a:prstGeom>
        </p:spPr>
      </p:pic>
      <p:sp>
        <p:nvSpPr>
          <p:cNvPr id="3" name="TextBox 2"/>
          <p:cNvSpPr txBox="1"/>
          <p:nvPr/>
        </p:nvSpPr>
        <p:spPr>
          <a:xfrm>
            <a:off x="1051560" y="384048"/>
            <a:ext cx="3657600" cy="365760"/>
          </a:xfrm>
          <a:prstGeom prst="rect">
            <a:avLst/>
          </a:prstGeom>
          <a:noFill/>
        </p:spPr>
        <p:txBody>
          <a:bodyPr wrap="square" anchor="t" lIns="0" rIns="0" tIns="0" bIns="0">
            <a:spAutoFit/>
          </a:bodyPr>
          <a:lstStyle/>
          <a:p>
            <a:pPr algn="l">
              <a:spcAft>
                <a:spcPts val="600"/>
              </a:spcAft>
            </a:pPr>
            <a:r>
              <a:rPr sz="1800" b="1">
                <a:solidFill>
                  <a:srgbClr val="0B291C"/>
                </a:solidFill>
                <a:latin typeface="IBM Plex Sans"/>
              </a:rPr>
              <a:t>Arsa AI</a:t>
            </a:r>
          </a:p>
        </p:txBody>
      </p:sp>
      <p:sp>
        <p:nvSpPr>
          <p:cNvPr id="4" name="TextBox 3"/>
          <p:cNvSpPr txBox="1"/>
          <p:nvPr/>
        </p:nvSpPr>
        <p:spPr>
          <a:xfrm>
            <a:off x="7589520" y="384048"/>
            <a:ext cx="4114800" cy="365760"/>
          </a:xfrm>
          <a:prstGeom prst="rect">
            <a:avLst/>
          </a:prstGeom>
          <a:noFill/>
        </p:spPr>
        <p:txBody>
          <a:bodyPr wrap="square" anchor="t" lIns="0" rIns="0" tIns="0" bIns="0">
            <a:spAutoFit/>
          </a:bodyPr>
          <a:lstStyle/>
          <a:p>
            <a:pPr algn="r">
              <a:spcAft>
                <a:spcPts val="600"/>
              </a:spcAft>
            </a:pPr>
            <a:r>
              <a:rPr sz="1400" b="0">
                <a:solidFill>
                  <a:srgbClr val="475B53"/>
                </a:solidFill>
                <a:latin typeface="IBM Plex Sans"/>
              </a:rPr>
              <a:t>Healthkathon 2026  ·  Detect Smarter, Protect JKN</a:t>
            </a:r>
          </a:p>
        </p:txBody>
      </p:sp>
      <p:sp>
        <p:nvSpPr>
          <p:cNvPr id="5" name="TextBox 4"/>
          <p:cNvSpPr txBox="1"/>
          <p:nvPr/>
        </p:nvSpPr>
        <p:spPr>
          <a:xfrm>
            <a:off x="457200" y="960120"/>
            <a:ext cx="11247120" cy="1188720"/>
          </a:xfrm>
          <a:prstGeom prst="rect">
            <a:avLst/>
          </a:prstGeom>
          <a:noFill/>
        </p:spPr>
        <p:txBody>
          <a:bodyPr wrap="square" anchor="t" lIns="0" rIns="0" tIns="0" bIns="0">
            <a:spAutoFit/>
          </a:bodyPr>
          <a:lstStyle/>
          <a:p>
            <a:pPr algn="l">
              <a:spcAft>
                <a:spcPts val="600"/>
              </a:spcAft>
            </a:pPr>
            <a:r>
              <a:rPr sz="3600" b="1">
                <a:solidFill>
                  <a:srgbClr val="0B291C"/>
                </a:solidFill>
                <a:latin typeface="IBM Plex Sans"/>
              </a:rPr>
              <a:t>Empat fitur, masing-masing menjawab satu bagian masalah</a:t>
            </a:r>
          </a:p>
        </p:txBody>
      </p:sp>
      <p:sp>
        <p:nvSpPr>
          <p:cNvPr id="6" name="TextBox 5"/>
          <p:cNvSpPr txBox="1"/>
          <p:nvPr/>
        </p:nvSpPr>
        <p:spPr>
          <a:xfrm>
            <a:off x="11155680" y="6400800"/>
            <a:ext cx="640080" cy="274320"/>
          </a:xfrm>
          <a:prstGeom prst="rect">
            <a:avLst/>
          </a:prstGeom>
          <a:noFill/>
        </p:spPr>
        <p:txBody>
          <a:bodyPr wrap="square" anchor="t" lIns="0" rIns="0" tIns="0" bIns="0">
            <a:spAutoFit/>
          </a:bodyPr>
          <a:lstStyle/>
          <a:p>
            <a:pPr algn="r">
              <a:spcAft>
                <a:spcPts val="600"/>
              </a:spcAft>
            </a:pPr>
            <a:r>
              <a:rPr sz="1400" b="0">
                <a:solidFill>
                  <a:srgbClr val="475B53"/>
                </a:solidFill>
                <a:latin typeface="IBM Plex Sans"/>
              </a:rPr>
              <a:t>8</a:t>
            </a:r>
          </a:p>
        </p:txBody>
      </p:sp>
      <p:pic>
        <p:nvPicPr>
          <p:cNvPr id="7" name="Picture 6" descr="s-command-center.png"/>
          <p:cNvPicPr>
            <a:picLocks noChangeAspect="1"/>
          </p:cNvPicPr>
          <p:nvPr/>
        </p:nvPicPr>
        <p:blipFill>
          <a:blip r:embed="rId4"/>
          <a:stretch>
            <a:fillRect/>
          </a:stretch>
        </p:blipFill>
        <p:spPr>
          <a:xfrm>
            <a:off x="457200" y="2011680"/>
            <a:ext cx="2651760" cy="1491615"/>
          </a:xfrm>
          <a:prstGeom prst="rect">
            <a:avLst/>
          </a:prstGeom>
          <a:ln w="12700">
            <a:solidFill>
              <a:srgbClr val="EDF2EF"/>
            </a:solidFill>
          </a:ln>
        </p:spPr>
      </p:pic>
      <p:sp>
        <p:nvSpPr>
          <p:cNvPr id="8" name="TextBox 7"/>
          <p:cNvSpPr txBox="1"/>
          <p:nvPr/>
        </p:nvSpPr>
        <p:spPr>
          <a:xfrm>
            <a:off x="3291840" y="2103120"/>
            <a:ext cx="2743200" cy="822960"/>
          </a:xfrm>
          <a:prstGeom prst="rect">
            <a:avLst/>
          </a:prstGeom>
          <a:noFill/>
        </p:spPr>
        <p:txBody>
          <a:bodyPr wrap="square" anchor="t" lIns="0" rIns="0" tIns="0" bIns="0">
            <a:spAutoFit/>
          </a:bodyPr>
          <a:lstStyle/>
          <a:p>
            <a:pPr algn="l">
              <a:spcAft>
                <a:spcPts val="600"/>
              </a:spcAft>
            </a:pPr>
            <a:r>
              <a:rPr sz="2200" b="1">
                <a:solidFill>
                  <a:srgbClr val="0B291C"/>
                </a:solidFill>
                <a:latin typeface="IBM Plex Sans"/>
              </a:rPr>
              <a:t>Command Center dan peta risiko</a:t>
            </a:r>
          </a:p>
        </p:txBody>
      </p:sp>
      <p:sp>
        <p:nvSpPr>
          <p:cNvPr id="9" name="TextBox 8"/>
          <p:cNvSpPr txBox="1"/>
          <p:nvPr/>
        </p:nvSpPr>
        <p:spPr>
          <a:xfrm>
            <a:off x="3291840" y="3017520"/>
            <a:ext cx="2743200" cy="914400"/>
          </a:xfrm>
          <a:prstGeom prst="rect">
            <a:avLst/>
          </a:prstGeom>
          <a:noFill/>
        </p:spPr>
        <p:txBody>
          <a:bodyPr wrap="square" anchor="t" lIns="0" rIns="0" tIns="0" bIns="0">
            <a:spAutoFit/>
          </a:bodyPr>
          <a:lstStyle/>
          <a:p>
            <a:pPr algn="l">
              <a:spcAft>
                <a:spcPts val="600"/>
              </a:spcAft>
            </a:pPr>
            <a:r>
              <a:rPr sz="1800" b="0">
                <a:solidFill>
                  <a:srgbClr val="475B53"/>
                </a:solidFill>
                <a:latin typeface="IBM Plex Sans"/>
              </a:rPr>
              <a:t>Menunjukkan di mana risiko menumpuk.</a:t>
            </a:r>
          </a:p>
        </p:txBody>
      </p:sp>
      <p:pic>
        <p:nvPicPr>
          <p:cNvPr id="10" name="Picture 9" descr="s-detail-kasus.png"/>
          <p:cNvPicPr>
            <a:picLocks noChangeAspect="1"/>
          </p:cNvPicPr>
          <p:nvPr/>
        </p:nvPicPr>
        <p:blipFill>
          <a:blip r:embed="rId5"/>
          <a:stretch>
            <a:fillRect/>
          </a:stretch>
        </p:blipFill>
        <p:spPr>
          <a:xfrm>
            <a:off x="6172200" y="2011680"/>
            <a:ext cx="2651760" cy="1491615"/>
          </a:xfrm>
          <a:prstGeom prst="rect">
            <a:avLst/>
          </a:prstGeom>
          <a:ln w="12700">
            <a:solidFill>
              <a:srgbClr val="EDF2EF"/>
            </a:solidFill>
          </a:ln>
        </p:spPr>
      </p:pic>
      <p:sp>
        <p:nvSpPr>
          <p:cNvPr id="11" name="TextBox 10"/>
          <p:cNvSpPr txBox="1"/>
          <p:nvPr/>
        </p:nvSpPr>
        <p:spPr>
          <a:xfrm>
            <a:off x="9006840" y="2103120"/>
            <a:ext cx="2743200" cy="822960"/>
          </a:xfrm>
          <a:prstGeom prst="rect">
            <a:avLst/>
          </a:prstGeom>
          <a:noFill/>
        </p:spPr>
        <p:txBody>
          <a:bodyPr wrap="square" anchor="t" lIns="0" rIns="0" tIns="0" bIns="0">
            <a:spAutoFit/>
          </a:bodyPr>
          <a:lstStyle/>
          <a:p>
            <a:pPr algn="l">
              <a:spcAft>
                <a:spcPts val="600"/>
              </a:spcAft>
            </a:pPr>
            <a:r>
              <a:rPr sz="2200" b="1">
                <a:solidFill>
                  <a:srgbClr val="0B291C"/>
                </a:solidFill>
                <a:latin typeface="IBM Plex Sans"/>
              </a:rPr>
              <a:t>Pemeriksaan klaim dengan bukti</a:t>
            </a:r>
          </a:p>
        </p:txBody>
      </p:sp>
      <p:sp>
        <p:nvSpPr>
          <p:cNvPr id="12" name="TextBox 11"/>
          <p:cNvSpPr txBox="1"/>
          <p:nvPr/>
        </p:nvSpPr>
        <p:spPr>
          <a:xfrm>
            <a:off x="9006840" y="3017520"/>
            <a:ext cx="2743200" cy="914400"/>
          </a:xfrm>
          <a:prstGeom prst="rect">
            <a:avLst/>
          </a:prstGeom>
          <a:noFill/>
        </p:spPr>
        <p:txBody>
          <a:bodyPr wrap="square" anchor="t" lIns="0" rIns="0" tIns="0" bIns="0">
            <a:spAutoFit/>
          </a:bodyPr>
          <a:lstStyle/>
          <a:p>
            <a:pPr algn="l">
              <a:spcAft>
                <a:spcPts val="600"/>
              </a:spcAft>
            </a:pPr>
            <a:r>
              <a:rPr sz="1800" b="0">
                <a:solidFill>
                  <a:srgbClr val="475B53"/>
                </a:solidFill>
                <a:latin typeface="IBM Plex Sans"/>
              </a:rPr>
              <a:t>Menjawab peringatan tanpa konteks.</a:t>
            </a:r>
          </a:p>
        </p:txBody>
      </p:sp>
      <p:pic>
        <p:nvPicPr>
          <p:cNvPr id="13" name="Picture 12" descr="s-copilot.png"/>
          <p:cNvPicPr>
            <a:picLocks noChangeAspect="1"/>
          </p:cNvPicPr>
          <p:nvPr/>
        </p:nvPicPr>
        <p:blipFill>
          <a:blip r:embed="rId6"/>
          <a:stretch>
            <a:fillRect/>
          </a:stretch>
        </p:blipFill>
        <p:spPr>
          <a:xfrm>
            <a:off x="457200" y="4297680"/>
            <a:ext cx="2651760" cy="1491615"/>
          </a:xfrm>
          <a:prstGeom prst="rect">
            <a:avLst/>
          </a:prstGeom>
          <a:ln w="12700">
            <a:solidFill>
              <a:srgbClr val="EDF2EF"/>
            </a:solidFill>
          </a:ln>
        </p:spPr>
      </p:pic>
      <p:sp>
        <p:nvSpPr>
          <p:cNvPr id="14" name="TextBox 13"/>
          <p:cNvSpPr txBox="1"/>
          <p:nvPr/>
        </p:nvSpPr>
        <p:spPr>
          <a:xfrm>
            <a:off x="3291840" y="4389120"/>
            <a:ext cx="2743200" cy="822960"/>
          </a:xfrm>
          <a:prstGeom prst="rect">
            <a:avLst/>
          </a:prstGeom>
          <a:noFill/>
        </p:spPr>
        <p:txBody>
          <a:bodyPr wrap="square" anchor="t" lIns="0" rIns="0" tIns="0" bIns="0">
            <a:spAutoFit/>
          </a:bodyPr>
          <a:lstStyle/>
          <a:p>
            <a:pPr algn="l">
              <a:spcAft>
                <a:spcPts val="600"/>
              </a:spcAft>
            </a:pPr>
            <a:r>
              <a:rPr sz="2200" b="1">
                <a:solidFill>
                  <a:srgbClr val="0B291C"/>
                </a:solidFill>
                <a:latin typeface="IBM Plex Sans"/>
              </a:rPr>
              <a:t>Copilot bersitasi</a:t>
            </a:r>
          </a:p>
        </p:txBody>
      </p:sp>
      <p:sp>
        <p:nvSpPr>
          <p:cNvPr id="15" name="TextBox 14"/>
          <p:cNvSpPr txBox="1"/>
          <p:nvPr/>
        </p:nvSpPr>
        <p:spPr>
          <a:xfrm>
            <a:off x="3291840" y="5303520"/>
            <a:ext cx="2743200" cy="914400"/>
          </a:xfrm>
          <a:prstGeom prst="rect">
            <a:avLst/>
          </a:prstGeom>
          <a:noFill/>
        </p:spPr>
        <p:txBody>
          <a:bodyPr wrap="square" anchor="t" lIns="0" rIns="0" tIns="0" bIns="0">
            <a:spAutoFit/>
          </a:bodyPr>
          <a:lstStyle/>
          <a:p>
            <a:pPr algn="l">
              <a:spcAft>
                <a:spcPts val="600"/>
              </a:spcAft>
            </a:pPr>
            <a:r>
              <a:rPr sz="1800" b="0">
                <a:solidFill>
                  <a:srgbClr val="475B53"/>
                </a:solidFill>
                <a:latin typeface="IBM Plex Sans"/>
              </a:rPr>
              <a:t>Menjawab risiko AI berhalusinasi.</a:t>
            </a:r>
          </a:p>
        </p:txBody>
      </p:sp>
      <p:pic>
        <p:nvPicPr>
          <p:cNvPr id="16" name="Picture 15" descr="s-dataset.png"/>
          <p:cNvPicPr>
            <a:picLocks noChangeAspect="1"/>
          </p:cNvPicPr>
          <p:nvPr/>
        </p:nvPicPr>
        <p:blipFill>
          <a:blip r:embed="rId7"/>
          <a:stretch>
            <a:fillRect/>
          </a:stretch>
        </p:blipFill>
        <p:spPr>
          <a:xfrm>
            <a:off x="6172200" y="4297680"/>
            <a:ext cx="2651760" cy="1491615"/>
          </a:xfrm>
          <a:prstGeom prst="rect">
            <a:avLst/>
          </a:prstGeom>
          <a:ln w="12700">
            <a:solidFill>
              <a:srgbClr val="EDF2EF"/>
            </a:solidFill>
          </a:ln>
        </p:spPr>
      </p:pic>
      <p:sp>
        <p:nvSpPr>
          <p:cNvPr id="17" name="TextBox 16"/>
          <p:cNvSpPr txBox="1"/>
          <p:nvPr/>
        </p:nvSpPr>
        <p:spPr>
          <a:xfrm>
            <a:off x="9006840" y="4389120"/>
            <a:ext cx="2743200" cy="822960"/>
          </a:xfrm>
          <a:prstGeom prst="rect">
            <a:avLst/>
          </a:prstGeom>
          <a:noFill/>
        </p:spPr>
        <p:txBody>
          <a:bodyPr wrap="square" anchor="t" lIns="0" rIns="0" tIns="0" bIns="0">
            <a:spAutoFit/>
          </a:bodyPr>
          <a:lstStyle/>
          <a:p>
            <a:pPr algn="l">
              <a:spcAft>
                <a:spcPts val="600"/>
              </a:spcAft>
            </a:pPr>
            <a:r>
              <a:rPr sz="2200" b="1">
                <a:solidFill>
                  <a:srgbClr val="0B291C"/>
                </a:solidFill>
                <a:latin typeface="IBM Plex Sans"/>
              </a:rPr>
              <a:t>Unggah, privasi, dan audit</a:t>
            </a:r>
          </a:p>
        </p:txBody>
      </p:sp>
      <p:sp>
        <p:nvSpPr>
          <p:cNvPr id="18" name="TextBox 17"/>
          <p:cNvSpPr txBox="1"/>
          <p:nvPr/>
        </p:nvSpPr>
        <p:spPr>
          <a:xfrm>
            <a:off x="9006840" y="5303520"/>
            <a:ext cx="2743200" cy="914400"/>
          </a:xfrm>
          <a:prstGeom prst="rect">
            <a:avLst/>
          </a:prstGeom>
          <a:noFill/>
        </p:spPr>
        <p:txBody>
          <a:bodyPr wrap="square" anchor="t" lIns="0" rIns="0" tIns="0" bIns="0">
            <a:spAutoFit/>
          </a:bodyPr>
          <a:lstStyle/>
          <a:p>
            <a:pPr algn="l">
              <a:spcAft>
                <a:spcPts val="600"/>
              </a:spcAft>
            </a:pPr>
            <a:r>
              <a:rPr sz="1800" b="0">
                <a:solidFill>
                  <a:srgbClr val="475B53"/>
                </a:solidFill>
                <a:latin typeface="IBM Plex Sans"/>
              </a:rPr>
              <a:t>Data baru masuk dengan aman dan tercatat.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rsa_logo.png"/>
          <p:cNvPicPr>
            <a:picLocks noChangeAspect="1"/>
          </p:cNvPicPr>
          <p:nvPr/>
        </p:nvPicPr>
        <p:blipFill>
          <a:blip r:embed="rId2"/>
          <a:stretch>
            <a:fillRect/>
          </a:stretch>
        </p:blipFill>
        <p:spPr>
          <a:xfrm>
            <a:off x="457200" y="320040"/>
            <a:ext cx="592263" cy="457200"/>
          </a:xfrm>
          <a:prstGeom prst="rect">
            <a:avLst/>
          </a:prstGeom>
        </p:spPr>
      </p:pic>
      <p:sp>
        <p:nvSpPr>
          <p:cNvPr id="3" name="TextBox 2"/>
          <p:cNvSpPr txBox="1"/>
          <p:nvPr/>
        </p:nvSpPr>
        <p:spPr>
          <a:xfrm>
            <a:off x="1051560" y="384048"/>
            <a:ext cx="3657600" cy="365760"/>
          </a:xfrm>
          <a:prstGeom prst="rect">
            <a:avLst/>
          </a:prstGeom>
          <a:noFill/>
        </p:spPr>
        <p:txBody>
          <a:bodyPr wrap="square" anchor="t" lIns="0" rIns="0" tIns="0" bIns="0">
            <a:spAutoFit/>
          </a:bodyPr>
          <a:lstStyle/>
          <a:p>
            <a:pPr algn="l">
              <a:spcAft>
                <a:spcPts val="600"/>
              </a:spcAft>
            </a:pPr>
            <a:r>
              <a:rPr sz="1800" b="1">
                <a:solidFill>
                  <a:srgbClr val="0B291C"/>
                </a:solidFill>
                <a:latin typeface="IBM Plex Sans"/>
              </a:rPr>
              <a:t>Arsa AI</a:t>
            </a:r>
          </a:p>
        </p:txBody>
      </p:sp>
      <p:sp>
        <p:nvSpPr>
          <p:cNvPr id="4" name="TextBox 3"/>
          <p:cNvSpPr txBox="1"/>
          <p:nvPr/>
        </p:nvSpPr>
        <p:spPr>
          <a:xfrm>
            <a:off x="7589520" y="384048"/>
            <a:ext cx="4114800" cy="365760"/>
          </a:xfrm>
          <a:prstGeom prst="rect">
            <a:avLst/>
          </a:prstGeom>
          <a:noFill/>
        </p:spPr>
        <p:txBody>
          <a:bodyPr wrap="square" anchor="t" lIns="0" rIns="0" tIns="0" bIns="0">
            <a:spAutoFit/>
          </a:bodyPr>
          <a:lstStyle/>
          <a:p>
            <a:pPr algn="r">
              <a:spcAft>
                <a:spcPts val="600"/>
              </a:spcAft>
            </a:pPr>
            <a:r>
              <a:rPr sz="1400" b="0">
                <a:solidFill>
                  <a:srgbClr val="475B53"/>
                </a:solidFill>
                <a:latin typeface="IBM Plex Sans"/>
              </a:rPr>
              <a:t>Healthkathon 2026  ·  Detect Smarter, Protect JKN</a:t>
            </a:r>
          </a:p>
        </p:txBody>
      </p:sp>
      <p:sp>
        <p:nvSpPr>
          <p:cNvPr id="5" name="TextBox 4"/>
          <p:cNvSpPr txBox="1"/>
          <p:nvPr/>
        </p:nvSpPr>
        <p:spPr>
          <a:xfrm>
            <a:off x="457200" y="960120"/>
            <a:ext cx="11247120" cy="1188720"/>
          </a:xfrm>
          <a:prstGeom prst="rect">
            <a:avLst/>
          </a:prstGeom>
          <a:noFill/>
        </p:spPr>
        <p:txBody>
          <a:bodyPr wrap="square" anchor="t" lIns="0" rIns="0" tIns="0" bIns="0">
            <a:spAutoFit/>
          </a:bodyPr>
          <a:lstStyle/>
          <a:p>
            <a:pPr algn="l">
              <a:spcAft>
                <a:spcPts val="600"/>
              </a:spcAft>
            </a:pPr>
            <a:r>
              <a:rPr sz="3600" b="1">
                <a:solidFill>
                  <a:srgbClr val="0B291C"/>
                </a:solidFill>
                <a:latin typeface="IBM Plex Sans"/>
              </a:rPr>
              <a:t>Arsitektur dan sumber data</a:t>
            </a:r>
          </a:p>
        </p:txBody>
      </p:sp>
      <p:sp>
        <p:nvSpPr>
          <p:cNvPr id="6" name="TextBox 5"/>
          <p:cNvSpPr txBox="1"/>
          <p:nvPr/>
        </p:nvSpPr>
        <p:spPr>
          <a:xfrm>
            <a:off x="11155680" y="6400800"/>
            <a:ext cx="640080" cy="274320"/>
          </a:xfrm>
          <a:prstGeom prst="rect">
            <a:avLst/>
          </a:prstGeom>
          <a:noFill/>
        </p:spPr>
        <p:txBody>
          <a:bodyPr wrap="square" anchor="t" lIns="0" rIns="0" tIns="0" bIns="0">
            <a:spAutoFit/>
          </a:bodyPr>
          <a:lstStyle/>
          <a:p>
            <a:pPr algn="r">
              <a:spcAft>
                <a:spcPts val="600"/>
              </a:spcAft>
            </a:pPr>
            <a:r>
              <a:rPr sz="1400" b="0">
                <a:solidFill>
                  <a:srgbClr val="475B53"/>
                </a:solidFill>
                <a:latin typeface="IBM Plex Sans"/>
              </a:rPr>
              <a:t>9</a:t>
            </a:r>
          </a:p>
        </p:txBody>
      </p:sp>
      <p:sp>
        <p:nvSpPr>
          <p:cNvPr id="7" name="Rectangle 6"/>
          <p:cNvSpPr/>
          <p:nvPr/>
        </p:nvSpPr>
        <p:spPr>
          <a:xfrm>
            <a:off x="457200" y="2377440"/>
            <a:ext cx="2011680" cy="1280160"/>
          </a:xfrm>
          <a:prstGeom prst="rect">
            <a:avLst/>
          </a:prstGeom>
          <a:solidFill>
            <a:srgbClr val="ED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2377440"/>
            <a:ext cx="2011680" cy="1280160"/>
          </a:xfrm>
          <a:prstGeom prst="rect">
            <a:avLst/>
          </a:prstGeom>
          <a:noFill/>
        </p:spPr>
        <p:txBody>
          <a:bodyPr wrap="square" anchor="ctr" lIns="0" rIns="0" tIns="0" bIns="0">
            <a:spAutoFit/>
          </a:bodyPr>
          <a:lstStyle/>
          <a:p>
            <a:pPr algn="ctr">
              <a:spcAft>
                <a:spcPts val="600"/>
              </a:spcAft>
            </a:pPr>
            <a:r>
              <a:rPr sz="2000" b="1">
                <a:solidFill>
                  <a:srgbClr val="0B291C"/>
                </a:solidFill>
                <a:latin typeface="IBM Plex Sans"/>
              </a:rPr>
              <a:t>Sumber data</a:t>
            </a:r>
          </a:p>
        </p:txBody>
      </p:sp>
      <p:sp>
        <p:nvSpPr>
          <p:cNvPr id="9" name="Rectangle 8"/>
          <p:cNvSpPr/>
          <p:nvPr/>
        </p:nvSpPr>
        <p:spPr>
          <a:xfrm>
            <a:off x="2743200" y="2377440"/>
            <a:ext cx="2011680" cy="1280160"/>
          </a:xfrm>
          <a:prstGeom prst="rect">
            <a:avLst/>
          </a:prstGeom>
          <a:solidFill>
            <a:srgbClr val="ED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0" y="2377440"/>
            <a:ext cx="2011680" cy="1280160"/>
          </a:xfrm>
          <a:prstGeom prst="rect">
            <a:avLst/>
          </a:prstGeom>
          <a:noFill/>
        </p:spPr>
        <p:txBody>
          <a:bodyPr wrap="square" anchor="ctr" lIns="0" rIns="0" tIns="0" bIns="0">
            <a:spAutoFit/>
          </a:bodyPr>
          <a:lstStyle/>
          <a:p>
            <a:pPr algn="ctr">
              <a:spcAft>
                <a:spcPts val="600"/>
              </a:spcAft>
            </a:pPr>
            <a:r>
              <a:rPr sz="2000" b="1">
                <a:solidFill>
                  <a:srgbClr val="0B291C"/>
                </a:solidFill>
                <a:latin typeface="IBM Plex Sans"/>
              </a:rPr>
              <a:t>Anonimisasi</a:t>
            </a:r>
          </a:p>
        </p:txBody>
      </p:sp>
      <p:sp>
        <p:nvSpPr>
          <p:cNvPr id="11" name="Rectangle 10"/>
          <p:cNvSpPr/>
          <p:nvPr/>
        </p:nvSpPr>
        <p:spPr>
          <a:xfrm>
            <a:off x="5029200" y="2377440"/>
            <a:ext cx="2011680" cy="1280160"/>
          </a:xfrm>
          <a:prstGeom prst="rect">
            <a:avLst/>
          </a:prstGeom>
          <a:solidFill>
            <a:srgbClr val="0B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0" y="2377440"/>
            <a:ext cx="2011680" cy="1280160"/>
          </a:xfrm>
          <a:prstGeom prst="rect">
            <a:avLst/>
          </a:prstGeom>
          <a:noFill/>
        </p:spPr>
        <p:txBody>
          <a:bodyPr wrap="square" anchor="ctr" lIns="0" rIns="0" tIns="0" bIns="0">
            <a:spAutoFit/>
          </a:bodyPr>
          <a:lstStyle/>
          <a:p>
            <a:pPr algn="ctr">
              <a:spcAft>
                <a:spcPts val="600"/>
              </a:spcAft>
            </a:pPr>
            <a:r>
              <a:rPr sz="2000" b="1">
                <a:solidFill>
                  <a:srgbClr val="FFFFFF"/>
                </a:solidFill>
                <a:latin typeface="IBM Plex Sans"/>
              </a:rPr>
              <a:t>Detektor dan skor</a:t>
            </a:r>
          </a:p>
        </p:txBody>
      </p:sp>
      <p:sp>
        <p:nvSpPr>
          <p:cNvPr id="13" name="Rectangle 12"/>
          <p:cNvSpPr/>
          <p:nvPr/>
        </p:nvSpPr>
        <p:spPr>
          <a:xfrm>
            <a:off x="7315200" y="2377440"/>
            <a:ext cx="2011680" cy="1280160"/>
          </a:xfrm>
          <a:prstGeom prst="rect">
            <a:avLst/>
          </a:prstGeom>
          <a:solidFill>
            <a:srgbClr val="ED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0" y="2377440"/>
            <a:ext cx="2011680" cy="1280160"/>
          </a:xfrm>
          <a:prstGeom prst="rect">
            <a:avLst/>
          </a:prstGeom>
          <a:noFill/>
        </p:spPr>
        <p:txBody>
          <a:bodyPr wrap="square" anchor="ctr" lIns="0" rIns="0" tIns="0" bIns="0">
            <a:spAutoFit/>
          </a:bodyPr>
          <a:lstStyle/>
          <a:p>
            <a:pPr algn="ctr">
              <a:spcAft>
                <a:spcPts val="600"/>
              </a:spcAft>
            </a:pPr>
            <a:r>
              <a:rPr sz="2000" b="1">
                <a:solidFill>
                  <a:srgbClr val="0B291C"/>
                </a:solidFill>
                <a:latin typeface="IBM Plex Sans"/>
              </a:rPr>
              <a:t>Antrean dan dosier</a:t>
            </a:r>
          </a:p>
        </p:txBody>
      </p:sp>
      <p:sp>
        <p:nvSpPr>
          <p:cNvPr id="15" name="Rectangle 14"/>
          <p:cNvSpPr/>
          <p:nvPr/>
        </p:nvSpPr>
        <p:spPr>
          <a:xfrm>
            <a:off x="9601200" y="2377440"/>
            <a:ext cx="2011680" cy="1280160"/>
          </a:xfrm>
          <a:prstGeom prst="rect">
            <a:avLst/>
          </a:prstGeom>
          <a:solidFill>
            <a:srgbClr val="ED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0" y="2377440"/>
            <a:ext cx="2011680" cy="1280160"/>
          </a:xfrm>
          <a:prstGeom prst="rect">
            <a:avLst/>
          </a:prstGeom>
          <a:noFill/>
        </p:spPr>
        <p:txBody>
          <a:bodyPr wrap="square" anchor="ctr" lIns="0" rIns="0" tIns="0" bIns="0">
            <a:spAutoFit/>
          </a:bodyPr>
          <a:lstStyle/>
          <a:p>
            <a:pPr algn="ctr">
              <a:spcAft>
                <a:spcPts val="600"/>
              </a:spcAft>
            </a:pPr>
            <a:r>
              <a:rPr sz="2000" b="1">
                <a:solidFill>
                  <a:srgbClr val="0B291C"/>
                </a:solidFill>
                <a:latin typeface="IBM Plex Sans"/>
              </a:rPr>
              <a:t>Audit SHA-256</a:t>
            </a:r>
          </a:p>
        </p:txBody>
      </p:sp>
      <p:sp>
        <p:nvSpPr>
          <p:cNvPr id="17" name="TextBox 16"/>
          <p:cNvSpPr txBox="1"/>
          <p:nvPr/>
        </p:nvSpPr>
        <p:spPr>
          <a:xfrm>
            <a:off x="457200" y="4114800"/>
            <a:ext cx="11247120" cy="914400"/>
          </a:xfrm>
          <a:prstGeom prst="rect">
            <a:avLst/>
          </a:prstGeom>
          <a:noFill/>
        </p:spPr>
        <p:txBody>
          <a:bodyPr wrap="square" anchor="t" lIns="0" rIns="0" tIns="0" bIns="0">
            <a:spAutoFit/>
          </a:bodyPr>
          <a:lstStyle/>
          <a:p>
            <a:pPr algn="l">
              <a:spcAft>
                <a:spcPts val="600"/>
              </a:spcAft>
            </a:pPr>
            <a:r>
              <a:rPr sz="2000" b="0">
                <a:solidFill>
                  <a:srgbClr val="11241D"/>
                </a:solidFill>
                <a:latin typeface="IBM Plex Sans"/>
              </a:rPr>
              <a:t>Data: statistik resmi BPJS (36 dari 75 berkas, diverifikasi independen: 5.729 pemeriksaan, 0 selisih) dan data klaim sintetis berlabel. Data peserta riil tidak dipakai.</a:t>
            </a:r>
          </a:p>
        </p:txBody>
      </p:sp>
      <p:sp>
        <p:nvSpPr>
          <p:cNvPr id="18" name="TextBox 17"/>
          <p:cNvSpPr txBox="1"/>
          <p:nvPr/>
        </p:nvSpPr>
        <p:spPr>
          <a:xfrm>
            <a:off x="457200" y="5394960"/>
            <a:ext cx="11247120" cy="548640"/>
          </a:xfrm>
          <a:prstGeom prst="rect">
            <a:avLst/>
          </a:prstGeom>
          <a:noFill/>
        </p:spPr>
        <p:txBody>
          <a:bodyPr wrap="square" anchor="t" lIns="0" rIns="0" tIns="0" bIns="0">
            <a:spAutoFit/>
          </a:bodyPr>
          <a:lstStyle/>
          <a:p>
            <a:pPr algn="l">
              <a:spcAft>
                <a:spcPts val="600"/>
              </a:spcAft>
            </a:pPr>
            <a:r>
              <a:rPr sz="2000" b="1">
                <a:solidFill>
                  <a:srgbClr val="007A3A"/>
                </a:solidFill>
                <a:latin typeface="IBM Plex Sans"/>
              </a:rPr>
              <a:t>Next.js  ·  PostgreSQL + pgvector  ·  Cloud Run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rsa_logo.png"/>
          <p:cNvPicPr>
            <a:picLocks noChangeAspect="1"/>
          </p:cNvPicPr>
          <p:nvPr/>
        </p:nvPicPr>
        <p:blipFill>
          <a:blip r:embed="rId2"/>
          <a:stretch>
            <a:fillRect/>
          </a:stretch>
        </p:blipFill>
        <p:spPr>
          <a:xfrm>
            <a:off x="457200" y="320040"/>
            <a:ext cx="592263" cy="457200"/>
          </a:xfrm>
          <a:prstGeom prst="rect">
            <a:avLst/>
          </a:prstGeom>
        </p:spPr>
      </p:pic>
      <p:sp>
        <p:nvSpPr>
          <p:cNvPr id="3" name="TextBox 2"/>
          <p:cNvSpPr txBox="1"/>
          <p:nvPr/>
        </p:nvSpPr>
        <p:spPr>
          <a:xfrm>
            <a:off x="1051560" y="384048"/>
            <a:ext cx="3657600" cy="365760"/>
          </a:xfrm>
          <a:prstGeom prst="rect">
            <a:avLst/>
          </a:prstGeom>
          <a:noFill/>
        </p:spPr>
        <p:txBody>
          <a:bodyPr wrap="square" anchor="t" lIns="0" rIns="0" tIns="0" bIns="0">
            <a:spAutoFit/>
          </a:bodyPr>
          <a:lstStyle/>
          <a:p>
            <a:pPr algn="l">
              <a:spcAft>
                <a:spcPts val="600"/>
              </a:spcAft>
            </a:pPr>
            <a:r>
              <a:rPr sz="1800" b="1">
                <a:solidFill>
                  <a:srgbClr val="0B291C"/>
                </a:solidFill>
                <a:latin typeface="IBM Plex Sans"/>
              </a:rPr>
              <a:t>Arsa AI</a:t>
            </a:r>
          </a:p>
        </p:txBody>
      </p:sp>
      <p:sp>
        <p:nvSpPr>
          <p:cNvPr id="4" name="TextBox 3"/>
          <p:cNvSpPr txBox="1"/>
          <p:nvPr/>
        </p:nvSpPr>
        <p:spPr>
          <a:xfrm>
            <a:off x="7589520" y="384048"/>
            <a:ext cx="4114800" cy="365760"/>
          </a:xfrm>
          <a:prstGeom prst="rect">
            <a:avLst/>
          </a:prstGeom>
          <a:noFill/>
        </p:spPr>
        <p:txBody>
          <a:bodyPr wrap="square" anchor="t" lIns="0" rIns="0" tIns="0" bIns="0">
            <a:spAutoFit/>
          </a:bodyPr>
          <a:lstStyle/>
          <a:p>
            <a:pPr algn="r">
              <a:spcAft>
                <a:spcPts val="600"/>
              </a:spcAft>
            </a:pPr>
            <a:r>
              <a:rPr sz="1400" b="0">
                <a:solidFill>
                  <a:srgbClr val="475B53"/>
                </a:solidFill>
                <a:latin typeface="IBM Plex Sans"/>
              </a:rPr>
              <a:t>Healthkathon 2026  ·  Detect Smarter, Protect JKN</a:t>
            </a:r>
          </a:p>
        </p:txBody>
      </p:sp>
      <p:sp>
        <p:nvSpPr>
          <p:cNvPr id="5" name="TextBox 4"/>
          <p:cNvSpPr txBox="1"/>
          <p:nvPr/>
        </p:nvSpPr>
        <p:spPr>
          <a:xfrm>
            <a:off x="457200" y="960120"/>
            <a:ext cx="11247120" cy="1188720"/>
          </a:xfrm>
          <a:prstGeom prst="rect">
            <a:avLst/>
          </a:prstGeom>
          <a:noFill/>
        </p:spPr>
        <p:txBody>
          <a:bodyPr wrap="square" anchor="t" lIns="0" rIns="0" tIns="0" bIns="0">
            <a:spAutoFit/>
          </a:bodyPr>
          <a:lstStyle/>
          <a:p>
            <a:pPr algn="l">
              <a:spcAft>
                <a:spcPts val="600"/>
              </a:spcAft>
            </a:pPr>
            <a:r>
              <a:rPr sz="3600" b="1">
                <a:solidFill>
                  <a:srgbClr val="0B291C"/>
                </a:solidFill>
                <a:latin typeface="IBM Plex Sans"/>
              </a:rPr>
              <a:t>Privasi dan tata kelola dirancang sejak input</a:t>
            </a:r>
          </a:p>
        </p:txBody>
      </p:sp>
      <p:sp>
        <p:nvSpPr>
          <p:cNvPr id="6" name="TextBox 5"/>
          <p:cNvSpPr txBox="1"/>
          <p:nvPr/>
        </p:nvSpPr>
        <p:spPr>
          <a:xfrm>
            <a:off x="11155680" y="6400800"/>
            <a:ext cx="640080" cy="274320"/>
          </a:xfrm>
          <a:prstGeom prst="rect">
            <a:avLst/>
          </a:prstGeom>
          <a:noFill/>
        </p:spPr>
        <p:txBody>
          <a:bodyPr wrap="square" anchor="t" lIns="0" rIns="0" tIns="0" bIns="0">
            <a:spAutoFit/>
          </a:bodyPr>
          <a:lstStyle/>
          <a:p>
            <a:pPr algn="r">
              <a:spcAft>
                <a:spcPts val="600"/>
              </a:spcAft>
            </a:pPr>
            <a:r>
              <a:rPr sz="1400" b="0">
                <a:solidFill>
                  <a:srgbClr val="475B53"/>
                </a:solidFill>
                <a:latin typeface="IBM Plex Sans"/>
              </a:rPr>
              <a:t>10</a:t>
            </a:r>
          </a:p>
        </p:txBody>
      </p:sp>
      <p:sp>
        <p:nvSpPr>
          <p:cNvPr id="7" name="Rectangle 6"/>
          <p:cNvSpPr/>
          <p:nvPr/>
        </p:nvSpPr>
        <p:spPr>
          <a:xfrm>
            <a:off x="457200" y="2286000"/>
            <a:ext cx="3566160" cy="2926080"/>
          </a:xfrm>
          <a:prstGeom prst="rect">
            <a:avLst/>
          </a:prstGeom>
          <a:solidFill>
            <a:srgbClr val="ED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560320"/>
            <a:ext cx="3017520" cy="640080"/>
          </a:xfrm>
          <a:prstGeom prst="rect">
            <a:avLst/>
          </a:prstGeom>
          <a:noFill/>
        </p:spPr>
        <p:txBody>
          <a:bodyPr wrap="square" anchor="t" lIns="0" rIns="0" tIns="0" bIns="0">
            <a:spAutoFit/>
          </a:bodyPr>
          <a:lstStyle/>
          <a:p>
            <a:pPr algn="l">
              <a:spcAft>
                <a:spcPts val="600"/>
              </a:spcAft>
            </a:pPr>
            <a:r>
              <a:rPr sz="2600" b="1">
                <a:solidFill>
                  <a:srgbClr val="0B291C"/>
                </a:solidFill>
                <a:latin typeface="IBM Plex Sans"/>
              </a:rPr>
              <a:t>Identitas disamarkan</a:t>
            </a:r>
          </a:p>
        </p:txBody>
      </p:sp>
      <p:sp>
        <p:nvSpPr>
          <p:cNvPr id="9" name="TextBox 8"/>
          <p:cNvSpPr txBox="1"/>
          <p:nvPr/>
        </p:nvSpPr>
        <p:spPr>
          <a:xfrm>
            <a:off x="731520" y="3383280"/>
            <a:ext cx="3017520" cy="1645920"/>
          </a:xfrm>
          <a:prstGeom prst="rect">
            <a:avLst/>
          </a:prstGeom>
          <a:noFill/>
        </p:spPr>
        <p:txBody>
          <a:bodyPr wrap="square" anchor="t" lIns="0" rIns="0" tIns="0" bIns="0">
            <a:spAutoFit/>
          </a:bodyPr>
          <a:lstStyle/>
          <a:p>
            <a:pPr algn="l">
              <a:spcAft>
                <a:spcPts val="600"/>
              </a:spcAft>
            </a:pPr>
            <a:r>
              <a:rPr sz="2000" b="0">
                <a:solidFill>
                  <a:srgbClr val="11241D"/>
                </a:solidFill>
                <a:latin typeface="IBM Plex Sans"/>
              </a:rPr>
              <a:t>HMAC, inisial, kolom identitas dibuang sebelum disimpan</a:t>
            </a:r>
          </a:p>
        </p:txBody>
      </p:sp>
      <p:sp>
        <p:nvSpPr>
          <p:cNvPr id="10" name="Rectangle 9"/>
          <p:cNvSpPr/>
          <p:nvPr/>
        </p:nvSpPr>
        <p:spPr>
          <a:xfrm>
            <a:off x="4297680" y="2286000"/>
            <a:ext cx="3566160" cy="2926080"/>
          </a:xfrm>
          <a:prstGeom prst="rect">
            <a:avLst/>
          </a:prstGeom>
          <a:solidFill>
            <a:srgbClr val="ED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2560320"/>
            <a:ext cx="3017520" cy="640080"/>
          </a:xfrm>
          <a:prstGeom prst="rect">
            <a:avLst/>
          </a:prstGeom>
          <a:noFill/>
        </p:spPr>
        <p:txBody>
          <a:bodyPr wrap="square" anchor="t" lIns="0" rIns="0" tIns="0" bIns="0">
            <a:spAutoFit/>
          </a:bodyPr>
          <a:lstStyle/>
          <a:p>
            <a:pPr algn="l">
              <a:spcAft>
                <a:spcPts val="600"/>
              </a:spcAft>
            </a:pPr>
            <a:r>
              <a:rPr sz="2600" b="1">
                <a:solidFill>
                  <a:srgbClr val="0B291C"/>
                </a:solidFill>
                <a:latin typeface="IBM Plex Sans"/>
              </a:rPr>
              <a:t>Tiga peran</a:t>
            </a:r>
          </a:p>
        </p:txBody>
      </p:sp>
      <p:sp>
        <p:nvSpPr>
          <p:cNvPr id="12" name="TextBox 11"/>
          <p:cNvSpPr txBox="1"/>
          <p:nvPr/>
        </p:nvSpPr>
        <p:spPr>
          <a:xfrm>
            <a:off x="4572000" y="3383280"/>
            <a:ext cx="3017520" cy="1645920"/>
          </a:xfrm>
          <a:prstGeom prst="rect">
            <a:avLst/>
          </a:prstGeom>
          <a:noFill/>
        </p:spPr>
        <p:txBody>
          <a:bodyPr wrap="square" anchor="t" lIns="0" rIns="0" tIns="0" bIns="0">
            <a:spAutoFit/>
          </a:bodyPr>
          <a:lstStyle/>
          <a:p>
            <a:pPr algn="l">
              <a:spcAft>
                <a:spcPts val="600"/>
              </a:spcAft>
            </a:pPr>
            <a:r>
              <a:rPr sz="2000" b="0">
                <a:solidFill>
                  <a:srgbClr val="11241D"/>
                </a:solidFill>
                <a:latin typeface="IBM Plex Sans"/>
              </a:rPr>
              <a:t>Investigator, Supervisor, Administrator dengan hak berbeda</a:t>
            </a:r>
          </a:p>
        </p:txBody>
      </p:sp>
      <p:sp>
        <p:nvSpPr>
          <p:cNvPr id="13" name="Rectangle 12"/>
          <p:cNvSpPr/>
          <p:nvPr/>
        </p:nvSpPr>
        <p:spPr>
          <a:xfrm>
            <a:off x="8138160" y="2286000"/>
            <a:ext cx="3566160" cy="2926080"/>
          </a:xfrm>
          <a:prstGeom prst="rect">
            <a:avLst/>
          </a:prstGeom>
          <a:solidFill>
            <a:srgbClr val="ED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0" y="2560320"/>
            <a:ext cx="3017520" cy="640080"/>
          </a:xfrm>
          <a:prstGeom prst="rect">
            <a:avLst/>
          </a:prstGeom>
          <a:noFill/>
        </p:spPr>
        <p:txBody>
          <a:bodyPr wrap="square" anchor="t" lIns="0" rIns="0" tIns="0" bIns="0">
            <a:spAutoFit/>
          </a:bodyPr>
          <a:lstStyle/>
          <a:p>
            <a:pPr algn="l">
              <a:spcAft>
                <a:spcPts val="600"/>
              </a:spcAft>
            </a:pPr>
            <a:r>
              <a:rPr sz="2600" b="1">
                <a:solidFill>
                  <a:srgbClr val="0B291C"/>
                </a:solidFill>
                <a:latin typeface="IBM Plex Sans"/>
              </a:rPr>
              <a:t>Rantai audit</a:t>
            </a:r>
          </a:p>
        </p:txBody>
      </p:sp>
      <p:sp>
        <p:nvSpPr>
          <p:cNvPr id="15" name="TextBox 14"/>
          <p:cNvSpPr txBox="1"/>
          <p:nvPr/>
        </p:nvSpPr>
        <p:spPr>
          <a:xfrm>
            <a:off x="8412480" y="3383280"/>
            <a:ext cx="3017520" cy="1645920"/>
          </a:xfrm>
          <a:prstGeom prst="rect">
            <a:avLst/>
          </a:prstGeom>
          <a:noFill/>
        </p:spPr>
        <p:txBody>
          <a:bodyPr wrap="square" anchor="t" lIns="0" rIns="0" tIns="0" bIns="0">
            <a:spAutoFit/>
          </a:bodyPr>
          <a:lstStyle/>
          <a:p>
            <a:pPr algn="l">
              <a:spcAft>
                <a:spcPts val="600"/>
              </a:spcAft>
            </a:pPr>
            <a:r>
              <a:rPr sz="2000" b="0">
                <a:solidFill>
                  <a:srgbClr val="11241D"/>
                </a:solidFill>
                <a:latin typeface="IBM Plex Sans"/>
              </a:rPr>
              <a:t>SHA-256, hanya bisa ditambah; kebijakan hanya diubah Administrator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rsa_logo.png"/>
          <p:cNvPicPr>
            <a:picLocks noChangeAspect="1"/>
          </p:cNvPicPr>
          <p:nvPr/>
        </p:nvPicPr>
        <p:blipFill>
          <a:blip r:embed="rId2"/>
          <a:stretch>
            <a:fillRect/>
          </a:stretch>
        </p:blipFill>
        <p:spPr>
          <a:xfrm>
            <a:off x="457200" y="320040"/>
            <a:ext cx="592263" cy="457200"/>
          </a:xfrm>
          <a:prstGeom prst="rect">
            <a:avLst/>
          </a:prstGeom>
        </p:spPr>
      </p:pic>
      <p:sp>
        <p:nvSpPr>
          <p:cNvPr id="3" name="TextBox 2"/>
          <p:cNvSpPr txBox="1"/>
          <p:nvPr/>
        </p:nvSpPr>
        <p:spPr>
          <a:xfrm>
            <a:off x="1051560" y="384048"/>
            <a:ext cx="3657600" cy="365760"/>
          </a:xfrm>
          <a:prstGeom prst="rect">
            <a:avLst/>
          </a:prstGeom>
          <a:noFill/>
        </p:spPr>
        <p:txBody>
          <a:bodyPr wrap="square" anchor="t" lIns="0" rIns="0" tIns="0" bIns="0">
            <a:spAutoFit/>
          </a:bodyPr>
          <a:lstStyle/>
          <a:p>
            <a:pPr algn="l">
              <a:spcAft>
                <a:spcPts val="600"/>
              </a:spcAft>
            </a:pPr>
            <a:r>
              <a:rPr sz="1800" b="1">
                <a:solidFill>
                  <a:srgbClr val="0B291C"/>
                </a:solidFill>
                <a:latin typeface="IBM Plex Sans"/>
              </a:rPr>
              <a:t>Arsa AI</a:t>
            </a:r>
          </a:p>
        </p:txBody>
      </p:sp>
      <p:sp>
        <p:nvSpPr>
          <p:cNvPr id="4" name="TextBox 3"/>
          <p:cNvSpPr txBox="1"/>
          <p:nvPr/>
        </p:nvSpPr>
        <p:spPr>
          <a:xfrm>
            <a:off x="7589520" y="384048"/>
            <a:ext cx="4114800" cy="365760"/>
          </a:xfrm>
          <a:prstGeom prst="rect">
            <a:avLst/>
          </a:prstGeom>
          <a:noFill/>
        </p:spPr>
        <p:txBody>
          <a:bodyPr wrap="square" anchor="t" lIns="0" rIns="0" tIns="0" bIns="0">
            <a:spAutoFit/>
          </a:bodyPr>
          <a:lstStyle/>
          <a:p>
            <a:pPr algn="r">
              <a:spcAft>
                <a:spcPts val="600"/>
              </a:spcAft>
            </a:pPr>
            <a:r>
              <a:rPr sz="1400" b="0">
                <a:solidFill>
                  <a:srgbClr val="475B53"/>
                </a:solidFill>
                <a:latin typeface="IBM Plex Sans"/>
              </a:rPr>
              <a:t>Healthkathon 2026  ·  Detect Smarter, Protect JKN</a:t>
            </a:r>
          </a:p>
        </p:txBody>
      </p:sp>
      <p:sp>
        <p:nvSpPr>
          <p:cNvPr id="5" name="TextBox 4"/>
          <p:cNvSpPr txBox="1"/>
          <p:nvPr/>
        </p:nvSpPr>
        <p:spPr>
          <a:xfrm>
            <a:off x="457200" y="960120"/>
            <a:ext cx="11247120" cy="1188720"/>
          </a:xfrm>
          <a:prstGeom prst="rect">
            <a:avLst/>
          </a:prstGeom>
          <a:noFill/>
        </p:spPr>
        <p:txBody>
          <a:bodyPr wrap="square" anchor="t" lIns="0" rIns="0" tIns="0" bIns="0">
            <a:spAutoFit/>
          </a:bodyPr>
          <a:lstStyle/>
          <a:p>
            <a:pPr algn="l">
              <a:spcAft>
                <a:spcPts val="600"/>
              </a:spcAft>
            </a:pPr>
            <a:r>
              <a:rPr sz="3600" b="1">
                <a:solidFill>
                  <a:srgbClr val="0B291C"/>
                </a:solidFill>
                <a:latin typeface="IBM Plex Sans"/>
              </a:rPr>
              <a:t>Yang sudah diuji, dan yang belum</a:t>
            </a:r>
          </a:p>
        </p:txBody>
      </p:sp>
      <p:sp>
        <p:nvSpPr>
          <p:cNvPr id="6" name="TextBox 5"/>
          <p:cNvSpPr txBox="1"/>
          <p:nvPr/>
        </p:nvSpPr>
        <p:spPr>
          <a:xfrm>
            <a:off x="11155680" y="6400800"/>
            <a:ext cx="640080" cy="274320"/>
          </a:xfrm>
          <a:prstGeom prst="rect">
            <a:avLst/>
          </a:prstGeom>
          <a:noFill/>
        </p:spPr>
        <p:txBody>
          <a:bodyPr wrap="square" anchor="t" lIns="0" rIns="0" tIns="0" bIns="0">
            <a:spAutoFit/>
          </a:bodyPr>
          <a:lstStyle/>
          <a:p>
            <a:pPr algn="r">
              <a:spcAft>
                <a:spcPts val="600"/>
              </a:spcAft>
            </a:pPr>
            <a:r>
              <a:rPr sz="1400" b="0">
                <a:solidFill>
                  <a:srgbClr val="475B53"/>
                </a:solidFill>
                <a:latin typeface="IBM Plex Sans"/>
              </a:rPr>
              <a:t>11</a:t>
            </a:r>
          </a:p>
        </p:txBody>
      </p:sp>
      <p:sp>
        <p:nvSpPr>
          <p:cNvPr id="7" name="Rectangle 6"/>
          <p:cNvSpPr/>
          <p:nvPr/>
        </p:nvSpPr>
        <p:spPr>
          <a:xfrm>
            <a:off x="457200" y="2194560"/>
            <a:ext cx="5486400" cy="3657600"/>
          </a:xfrm>
          <a:prstGeom prst="rect">
            <a:avLst/>
          </a:prstGeom>
          <a:solidFill>
            <a:srgbClr val="ED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377440"/>
            <a:ext cx="4937760" cy="457200"/>
          </a:xfrm>
          <a:prstGeom prst="rect">
            <a:avLst/>
          </a:prstGeom>
          <a:noFill/>
        </p:spPr>
        <p:txBody>
          <a:bodyPr wrap="square" anchor="t" lIns="0" rIns="0" tIns="0" bIns="0">
            <a:spAutoFit/>
          </a:bodyPr>
          <a:lstStyle/>
          <a:p>
            <a:pPr algn="l">
              <a:spcAft>
                <a:spcPts val="600"/>
              </a:spcAft>
            </a:pPr>
            <a:r>
              <a:rPr sz="2600" b="1">
                <a:solidFill>
                  <a:srgbClr val="007A3A"/>
                </a:solidFill>
                <a:latin typeface="IBM Plex Sans"/>
              </a:rPr>
              <a:t>Sudah diuji</a:t>
            </a:r>
          </a:p>
        </p:txBody>
      </p:sp>
      <p:sp>
        <p:nvSpPr>
          <p:cNvPr id="9" name="TextBox 8"/>
          <p:cNvSpPr txBox="1"/>
          <p:nvPr/>
        </p:nvSpPr>
        <p:spPr>
          <a:xfrm>
            <a:off x="731520" y="3017520"/>
            <a:ext cx="4937760" cy="2743200"/>
          </a:xfrm>
          <a:prstGeom prst="rect">
            <a:avLst/>
          </a:prstGeom>
          <a:noFill/>
        </p:spPr>
        <p:txBody>
          <a:bodyPr wrap="square" anchor="t" lIns="0" rIns="0" tIns="0" bIns="0">
            <a:spAutoFit/>
          </a:bodyPr>
          <a:lstStyle/>
          <a:p>
            <a:pPr algn="l">
              <a:spcAft>
                <a:spcPts val="600"/>
              </a:spcAft>
            </a:pPr>
            <a:r>
              <a:rPr sz="2000" b="0">
                <a:solidFill>
                  <a:srgbClr val="11241D"/>
                </a:solidFill>
                <a:latin typeface="IBM Plex Sans"/>
              </a:rPr>
              <a:t>137 tes otomatis lulus</a:t>
            </a:r>
          </a:p>
          <a:p>
            <a:pPr algn="l">
              <a:spcAft>
                <a:spcPts val="600"/>
              </a:spcAft>
            </a:pPr>
            <a:r>
              <a:rPr sz="2000" b="0">
                <a:solidFill>
                  <a:srgbClr val="11241D"/>
                </a:solidFill>
                <a:latin typeface="IBM Plex Sans"/>
              </a:rPr>
              <a:t>Alur unggah CSV, XLSX, JSON, dan berkas bermasalah</a:t>
            </a:r>
          </a:p>
          <a:p>
            <a:pPr algn="l">
              <a:spcAft>
                <a:spcPts val="600"/>
              </a:spcAft>
            </a:pPr>
            <a:r>
              <a:rPr sz="2000" b="0">
                <a:solidFill>
                  <a:srgbClr val="11241D"/>
                </a:solidFill>
                <a:latin typeface="IBM Plex Sans"/>
              </a:rPr>
              <a:t>Data acuan BPJS: 5.729 pemeriksaan, 0 selisih</a:t>
            </a:r>
          </a:p>
          <a:p>
            <a:pPr algn="l">
              <a:spcAft>
                <a:spcPts val="600"/>
              </a:spcAft>
            </a:pPr>
            <a:r>
              <a:rPr sz="2000" b="0">
                <a:solidFill>
                  <a:srgbClr val="11241D"/>
                </a:solidFill>
                <a:latin typeface="IBM Plex Sans"/>
              </a:rPr>
              <a:t>F1 makro 82,7% pada data sintetis</a:t>
            </a:r>
          </a:p>
        </p:txBody>
      </p:sp>
      <p:sp>
        <p:nvSpPr>
          <p:cNvPr id="10" name="Rectangle 9"/>
          <p:cNvSpPr/>
          <p:nvPr/>
        </p:nvSpPr>
        <p:spPr>
          <a:xfrm>
            <a:off x="6217920" y="2194560"/>
            <a:ext cx="5486400" cy="3657600"/>
          </a:xfrm>
          <a:prstGeom prst="rect">
            <a:avLst/>
          </a:prstGeom>
          <a:solidFill>
            <a:srgbClr val="FEF3C7"/>
          </a:solidFill>
          <a:ln w="12700">
            <a:solidFill>
              <a:srgbClr val="CA8A0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2377440"/>
            <a:ext cx="4937760" cy="457200"/>
          </a:xfrm>
          <a:prstGeom prst="rect">
            <a:avLst/>
          </a:prstGeom>
          <a:noFill/>
        </p:spPr>
        <p:txBody>
          <a:bodyPr wrap="square" anchor="t" lIns="0" rIns="0" tIns="0" bIns="0">
            <a:spAutoFit/>
          </a:bodyPr>
          <a:lstStyle/>
          <a:p>
            <a:pPr algn="l">
              <a:spcAft>
                <a:spcPts val="600"/>
              </a:spcAft>
            </a:pPr>
            <a:r>
              <a:rPr sz="2600" b="1">
                <a:solidFill>
                  <a:srgbClr val="92400E"/>
                </a:solidFill>
                <a:latin typeface="IBM Plex Sans"/>
              </a:rPr>
              <a:t>Belum</a:t>
            </a:r>
          </a:p>
        </p:txBody>
      </p:sp>
      <p:sp>
        <p:nvSpPr>
          <p:cNvPr id="12" name="TextBox 11"/>
          <p:cNvSpPr txBox="1"/>
          <p:nvPr/>
        </p:nvSpPr>
        <p:spPr>
          <a:xfrm>
            <a:off x="6492240" y="3017520"/>
            <a:ext cx="4937760" cy="2743200"/>
          </a:xfrm>
          <a:prstGeom prst="rect">
            <a:avLst/>
          </a:prstGeom>
          <a:noFill/>
        </p:spPr>
        <p:txBody>
          <a:bodyPr wrap="square" anchor="t" lIns="0" rIns="0" tIns="0" bIns="0">
            <a:spAutoFit/>
          </a:bodyPr>
          <a:lstStyle/>
          <a:p>
            <a:pPr algn="l">
              <a:spcAft>
                <a:spcPts val="600"/>
              </a:spcAft>
            </a:pPr>
            <a:r>
              <a:rPr sz="2000" b="0">
                <a:solidFill>
                  <a:srgbClr val="11241D"/>
                </a:solidFill>
                <a:latin typeface="IBM Plex Sans"/>
              </a:rPr>
              <a:t>Validasi pada klaim riil</a:t>
            </a:r>
          </a:p>
          <a:p>
            <a:pPr algn="l">
              <a:spcAft>
                <a:spcPts val="600"/>
              </a:spcAft>
            </a:pPr>
            <a:r>
              <a:rPr sz="2000" b="0">
                <a:solidFill>
                  <a:srgbClr val="11241D"/>
                </a:solidFill>
                <a:latin typeface="IBM Plex Sans"/>
              </a:rPr>
              <a:t>Detektor dengan kasus berlabel di bawah 10 hanya indikatif</a:t>
            </a:r>
          </a:p>
          <a:p>
            <a:pPr algn="l">
              <a:spcAft>
                <a:spcPts val="600"/>
              </a:spcAft>
            </a:pPr>
            <a:r>
              <a:rPr sz="2000" b="0">
                <a:solidFill>
                  <a:srgbClr val="11241D"/>
                </a:solidFill>
                <a:latin typeface="IBM Plex Sans"/>
              </a:rPr>
              <a:t>Klaim penghematan waktu belum diukur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rsa_logo.png"/>
          <p:cNvPicPr>
            <a:picLocks noChangeAspect="1"/>
          </p:cNvPicPr>
          <p:nvPr/>
        </p:nvPicPr>
        <p:blipFill>
          <a:blip r:embed="rId2"/>
          <a:stretch>
            <a:fillRect/>
          </a:stretch>
        </p:blipFill>
        <p:spPr>
          <a:xfrm>
            <a:off x="457200" y="320040"/>
            <a:ext cx="592263" cy="457200"/>
          </a:xfrm>
          <a:prstGeom prst="rect">
            <a:avLst/>
          </a:prstGeom>
        </p:spPr>
      </p:pic>
      <p:sp>
        <p:nvSpPr>
          <p:cNvPr id="3" name="TextBox 2"/>
          <p:cNvSpPr txBox="1"/>
          <p:nvPr/>
        </p:nvSpPr>
        <p:spPr>
          <a:xfrm>
            <a:off x="1051560" y="384048"/>
            <a:ext cx="3657600" cy="365760"/>
          </a:xfrm>
          <a:prstGeom prst="rect">
            <a:avLst/>
          </a:prstGeom>
          <a:noFill/>
        </p:spPr>
        <p:txBody>
          <a:bodyPr wrap="square" anchor="t" lIns="0" rIns="0" tIns="0" bIns="0">
            <a:spAutoFit/>
          </a:bodyPr>
          <a:lstStyle/>
          <a:p>
            <a:pPr algn="l">
              <a:spcAft>
                <a:spcPts val="600"/>
              </a:spcAft>
            </a:pPr>
            <a:r>
              <a:rPr sz="1800" b="1">
                <a:solidFill>
                  <a:srgbClr val="0B291C"/>
                </a:solidFill>
                <a:latin typeface="IBM Plex Sans"/>
              </a:rPr>
              <a:t>Arsa AI</a:t>
            </a:r>
          </a:p>
        </p:txBody>
      </p:sp>
      <p:sp>
        <p:nvSpPr>
          <p:cNvPr id="4" name="TextBox 3"/>
          <p:cNvSpPr txBox="1"/>
          <p:nvPr/>
        </p:nvSpPr>
        <p:spPr>
          <a:xfrm>
            <a:off x="7589520" y="384048"/>
            <a:ext cx="4114800" cy="365760"/>
          </a:xfrm>
          <a:prstGeom prst="rect">
            <a:avLst/>
          </a:prstGeom>
          <a:noFill/>
        </p:spPr>
        <p:txBody>
          <a:bodyPr wrap="square" anchor="t" lIns="0" rIns="0" tIns="0" bIns="0">
            <a:spAutoFit/>
          </a:bodyPr>
          <a:lstStyle/>
          <a:p>
            <a:pPr algn="r">
              <a:spcAft>
                <a:spcPts val="600"/>
              </a:spcAft>
            </a:pPr>
            <a:r>
              <a:rPr sz="1400" b="0">
                <a:solidFill>
                  <a:srgbClr val="475B53"/>
                </a:solidFill>
                <a:latin typeface="IBM Plex Sans"/>
              </a:rPr>
              <a:t>Healthkathon 2026  ·  Detect Smarter, Protect JKN</a:t>
            </a:r>
          </a:p>
        </p:txBody>
      </p:sp>
      <p:sp>
        <p:nvSpPr>
          <p:cNvPr id="5" name="TextBox 4"/>
          <p:cNvSpPr txBox="1"/>
          <p:nvPr/>
        </p:nvSpPr>
        <p:spPr>
          <a:xfrm>
            <a:off x="457200" y="960120"/>
            <a:ext cx="11247120" cy="1188720"/>
          </a:xfrm>
          <a:prstGeom prst="rect">
            <a:avLst/>
          </a:prstGeom>
          <a:noFill/>
        </p:spPr>
        <p:txBody>
          <a:bodyPr wrap="square" anchor="t" lIns="0" rIns="0" tIns="0" bIns="0">
            <a:spAutoFit/>
          </a:bodyPr>
          <a:lstStyle/>
          <a:p>
            <a:pPr algn="l">
              <a:spcAft>
                <a:spcPts val="600"/>
              </a:spcAft>
            </a:pPr>
            <a:r>
              <a:rPr sz="3600" b="1">
                <a:solidFill>
                  <a:srgbClr val="0B291C"/>
                </a:solidFill>
                <a:latin typeface="IBM Plex Sans"/>
              </a:rPr>
              <a:t>Rencana pengembangan</a:t>
            </a:r>
          </a:p>
        </p:txBody>
      </p:sp>
      <p:sp>
        <p:nvSpPr>
          <p:cNvPr id="6" name="TextBox 5"/>
          <p:cNvSpPr txBox="1"/>
          <p:nvPr/>
        </p:nvSpPr>
        <p:spPr>
          <a:xfrm>
            <a:off x="11155680" y="6400800"/>
            <a:ext cx="640080" cy="274320"/>
          </a:xfrm>
          <a:prstGeom prst="rect">
            <a:avLst/>
          </a:prstGeom>
          <a:noFill/>
        </p:spPr>
        <p:txBody>
          <a:bodyPr wrap="square" anchor="t" lIns="0" rIns="0" tIns="0" bIns="0">
            <a:spAutoFit/>
          </a:bodyPr>
          <a:lstStyle/>
          <a:p>
            <a:pPr algn="r">
              <a:spcAft>
                <a:spcPts val="600"/>
              </a:spcAft>
            </a:pPr>
            <a:r>
              <a:rPr sz="1400" b="0">
                <a:solidFill>
                  <a:srgbClr val="475B53"/>
                </a:solidFill>
                <a:latin typeface="IBM Plex Sans"/>
              </a:rPr>
              <a:t>12</a:t>
            </a:r>
          </a:p>
        </p:txBody>
      </p:sp>
      <p:sp>
        <p:nvSpPr>
          <p:cNvPr id="7" name="Oval 6"/>
          <p:cNvSpPr/>
          <p:nvPr/>
        </p:nvSpPr>
        <p:spPr>
          <a:xfrm>
            <a:off x="457200" y="2286000"/>
            <a:ext cx="457200" cy="457200"/>
          </a:xfrm>
          <a:prstGeom prst="ellipse">
            <a:avLst/>
          </a:prstGeom>
          <a:solidFill>
            <a:srgbClr val="007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286000"/>
            <a:ext cx="2743200" cy="457200"/>
          </a:xfrm>
          <a:prstGeom prst="rect">
            <a:avLst/>
          </a:prstGeom>
          <a:noFill/>
        </p:spPr>
        <p:txBody>
          <a:bodyPr wrap="square" anchor="ctr" lIns="0" rIns="0" tIns="0" bIns="0">
            <a:spAutoFit/>
          </a:bodyPr>
          <a:lstStyle/>
          <a:p>
            <a:pPr algn="l">
              <a:spcAft>
                <a:spcPts val="600"/>
              </a:spcAft>
            </a:pPr>
            <a:r>
              <a:rPr sz="2400" b="1">
                <a:solidFill>
                  <a:srgbClr val="0B291C"/>
                </a:solidFill>
                <a:latin typeface="IBM Plex Sans"/>
              </a:rPr>
              <a:t>Tahap 1</a:t>
            </a:r>
          </a:p>
        </p:txBody>
      </p:sp>
      <p:sp>
        <p:nvSpPr>
          <p:cNvPr id="9" name="TextBox 8"/>
          <p:cNvSpPr txBox="1"/>
          <p:nvPr/>
        </p:nvSpPr>
        <p:spPr>
          <a:xfrm>
            <a:off x="457200" y="3108960"/>
            <a:ext cx="3474720" cy="1645920"/>
          </a:xfrm>
          <a:prstGeom prst="rect">
            <a:avLst/>
          </a:prstGeom>
          <a:noFill/>
        </p:spPr>
        <p:txBody>
          <a:bodyPr wrap="square" anchor="t" lIns="0" rIns="0" tIns="0" bIns="0">
            <a:spAutoFit/>
          </a:bodyPr>
          <a:lstStyle/>
          <a:p>
            <a:pPr algn="l">
              <a:spcAft>
                <a:spcPts val="600"/>
              </a:spcAft>
            </a:pPr>
            <a:r>
              <a:rPr sz="2000" b="0">
                <a:solidFill>
                  <a:srgbClr val="11241D"/>
                </a:solidFill>
                <a:latin typeface="IBM Plex Sans"/>
              </a:rPr>
              <a:t>Pilot terbatas dengan data klaim teranonimkan atas izin resmi</a:t>
            </a:r>
          </a:p>
        </p:txBody>
      </p:sp>
      <p:sp>
        <p:nvSpPr>
          <p:cNvPr id="10" name="Oval 9"/>
          <p:cNvSpPr/>
          <p:nvPr/>
        </p:nvSpPr>
        <p:spPr>
          <a:xfrm>
            <a:off x="4297680" y="2286000"/>
            <a:ext cx="457200" cy="457200"/>
          </a:xfrm>
          <a:prstGeom prst="ellipse">
            <a:avLst/>
          </a:prstGeom>
          <a:solidFill>
            <a:srgbClr val="007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37760" y="2286000"/>
            <a:ext cx="2743200" cy="457200"/>
          </a:xfrm>
          <a:prstGeom prst="rect">
            <a:avLst/>
          </a:prstGeom>
          <a:noFill/>
        </p:spPr>
        <p:txBody>
          <a:bodyPr wrap="square" anchor="ctr" lIns="0" rIns="0" tIns="0" bIns="0">
            <a:spAutoFit/>
          </a:bodyPr>
          <a:lstStyle/>
          <a:p>
            <a:pPr algn="l">
              <a:spcAft>
                <a:spcPts val="600"/>
              </a:spcAft>
            </a:pPr>
            <a:r>
              <a:rPr sz="2400" b="1">
                <a:solidFill>
                  <a:srgbClr val="0B291C"/>
                </a:solidFill>
                <a:latin typeface="IBM Plex Sans"/>
              </a:rPr>
              <a:t>Tahap 2</a:t>
            </a:r>
          </a:p>
        </p:txBody>
      </p:sp>
      <p:sp>
        <p:nvSpPr>
          <p:cNvPr id="12" name="TextBox 11"/>
          <p:cNvSpPr txBox="1"/>
          <p:nvPr/>
        </p:nvSpPr>
        <p:spPr>
          <a:xfrm>
            <a:off x="4297680" y="3108960"/>
            <a:ext cx="3474720" cy="1645920"/>
          </a:xfrm>
          <a:prstGeom prst="rect">
            <a:avLst/>
          </a:prstGeom>
          <a:noFill/>
        </p:spPr>
        <p:txBody>
          <a:bodyPr wrap="square" anchor="t" lIns="0" rIns="0" tIns="0" bIns="0">
            <a:spAutoFit/>
          </a:bodyPr>
          <a:lstStyle/>
          <a:p>
            <a:pPr algn="l">
              <a:spcAft>
                <a:spcPts val="600"/>
              </a:spcAft>
            </a:pPr>
            <a:r>
              <a:rPr sz="2000" b="0">
                <a:solidFill>
                  <a:srgbClr val="11241D"/>
                </a:solidFill>
                <a:latin typeface="IBM Plex Sans"/>
              </a:rPr>
              <a:t>Kalibrasi detektor dan ambang dengan label investigasi nyata</a:t>
            </a:r>
          </a:p>
        </p:txBody>
      </p:sp>
      <p:sp>
        <p:nvSpPr>
          <p:cNvPr id="13" name="Oval 12"/>
          <p:cNvSpPr/>
          <p:nvPr/>
        </p:nvSpPr>
        <p:spPr>
          <a:xfrm>
            <a:off x="8138160" y="2286000"/>
            <a:ext cx="457200" cy="457200"/>
          </a:xfrm>
          <a:prstGeom prst="ellipse">
            <a:avLst/>
          </a:prstGeom>
          <a:solidFill>
            <a:srgbClr val="007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78240" y="2286000"/>
            <a:ext cx="2743200" cy="457200"/>
          </a:xfrm>
          <a:prstGeom prst="rect">
            <a:avLst/>
          </a:prstGeom>
          <a:noFill/>
        </p:spPr>
        <p:txBody>
          <a:bodyPr wrap="square" anchor="ctr" lIns="0" rIns="0" tIns="0" bIns="0">
            <a:spAutoFit/>
          </a:bodyPr>
          <a:lstStyle/>
          <a:p>
            <a:pPr algn="l">
              <a:spcAft>
                <a:spcPts val="600"/>
              </a:spcAft>
            </a:pPr>
            <a:r>
              <a:rPr sz="2400" b="1">
                <a:solidFill>
                  <a:srgbClr val="0B291C"/>
                </a:solidFill>
                <a:latin typeface="IBM Plex Sans"/>
              </a:rPr>
              <a:t>Tahap 3</a:t>
            </a:r>
          </a:p>
        </p:txBody>
      </p:sp>
      <p:sp>
        <p:nvSpPr>
          <p:cNvPr id="15" name="TextBox 14"/>
          <p:cNvSpPr txBox="1"/>
          <p:nvPr/>
        </p:nvSpPr>
        <p:spPr>
          <a:xfrm>
            <a:off x="8138160" y="3108960"/>
            <a:ext cx="3474720" cy="1645920"/>
          </a:xfrm>
          <a:prstGeom prst="rect">
            <a:avLst/>
          </a:prstGeom>
          <a:noFill/>
        </p:spPr>
        <p:txBody>
          <a:bodyPr wrap="square" anchor="t" lIns="0" rIns="0" tIns="0" bIns="0">
            <a:spAutoFit/>
          </a:bodyPr>
          <a:lstStyle/>
          <a:p>
            <a:pPr algn="l">
              <a:spcAft>
                <a:spcPts val="600"/>
              </a:spcAft>
            </a:pPr>
            <a:r>
              <a:rPr sz="2000" b="0">
                <a:solidFill>
                  <a:srgbClr val="11241D"/>
                </a:solidFill>
                <a:latin typeface="IBM Plex Sans"/>
              </a:rPr>
              <a:t>Integrasi ke alur verifikasi BPJS</a:t>
            </a:r>
          </a:p>
        </p:txBody>
      </p:sp>
      <p:sp>
        <p:nvSpPr>
          <p:cNvPr id="16" name="TextBox 15"/>
          <p:cNvSpPr txBox="1"/>
          <p:nvPr/>
        </p:nvSpPr>
        <p:spPr>
          <a:xfrm>
            <a:off x="457200" y="5303520"/>
            <a:ext cx="11247120" cy="548640"/>
          </a:xfrm>
          <a:prstGeom prst="rect">
            <a:avLst/>
          </a:prstGeom>
          <a:noFill/>
        </p:spPr>
        <p:txBody>
          <a:bodyPr wrap="square" anchor="t" lIns="0" rIns="0" tIns="0" bIns="0">
            <a:spAutoFit/>
          </a:bodyPr>
          <a:lstStyle/>
          <a:p>
            <a:pPr algn="l">
              <a:spcAft>
                <a:spcPts val="600"/>
              </a:spcAft>
            </a:pPr>
            <a:r>
              <a:rPr sz="2000" b="0">
                <a:solidFill>
                  <a:srgbClr val="475B53"/>
                </a:solidFill>
                <a:latin typeface="IBM Plex Sans"/>
              </a:rPr>
              <a:t>Setiap tahap diukur dengan indikator yang sama seperti pada slide dampak.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arsa_logo.png"/>
          <p:cNvPicPr>
            <a:picLocks noChangeAspect="1"/>
          </p:cNvPicPr>
          <p:nvPr/>
        </p:nvPicPr>
        <p:blipFill>
          <a:blip r:embed="rId2"/>
          <a:stretch>
            <a:fillRect/>
          </a:stretch>
        </p:blipFill>
        <p:spPr>
          <a:xfrm>
            <a:off x="457200" y="320040"/>
            <a:ext cx="592263" cy="457200"/>
          </a:xfrm>
          <a:prstGeom prst="rect">
            <a:avLst/>
          </a:prstGeom>
        </p:spPr>
      </p:pic>
      <p:sp>
        <p:nvSpPr>
          <p:cNvPr id="4" name="TextBox 3"/>
          <p:cNvSpPr txBox="1"/>
          <p:nvPr/>
        </p:nvSpPr>
        <p:spPr>
          <a:xfrm>
            <a:off x="1051560" y="384048"/>
            <a:ext cx="3657600" cy="365760"/>
          </a:xfrm>
          <a:prstGeom prst="rect">
            <a:avLst/>
          </a:prstGeom>
          <a:noFill/>
        </p:spPr>
        <p:txBody>
          <a:bodyPr wrap="square" anchor="t" lIns="0" rIns="0" tIns="0" bIns="0">
            <a:spAutoFit/>
          </a:bodyPr>
          <a:lstStyle/>
          <a:p>
            <a:pPr algn="l">
              <a:spcAft>
                <a:spcPts val="600"/>
              </a:spcAft>
            </a:pPr>
            <a:r>
              <a:rPr sz="1800" b="1">
                <a:solidFill>
                  <a:srgbClr val="FFFFFF"/>
                </a:solidFill>
                <a:latin typeface="IBM Plex Sans"/>
              </a:rPr>
              <a:t>Arsa AI</a:t>
            </a:r>
          </a:p>
        </p:txBody>
      </p:sp>
      <p:sp>
        <p:nvSpPr>
          <p:cNvPr id="5" name="TextBox 4"/>
          <p:cNvSpPr txBox="1"/>
          <p:nvPr/>
        </p:nvSpPr>
        <p:spPr>
          <a:xfrm>
            <a:off x="7589520" y="384048"/>
            <a:ext cx="4114800" cy="365760"/>
          </a:xfrm>
          <a:prstGeom prst="rect">
            <a:avLst/>
          </a:prstGeom>
          <a:noFill/>
        </p:spPr>
        <p:txBody>
          <a:bodyPr wrap="square" anchor="t" lIns="0" rIns="0" tIns="0" bIns="0">
            <a:spAutoFit/>
          </a:bodyPr>
          <a:lstStyle/>
          <a:p>
            <a:pPr algn="r">
              <a:spcAft>
                <a:spcPts val="600"/>
              </a:spcAft>
            </a:pPr>
            <a:r>
              <a:rPr sz="1400" b="0">
                <a:solidFill>
                  <a:srgbClr val="EDF2EF"/>
                </a:solidFill>
                <a:latin typeface="IBM Plex Sans"/>
              </a:rPr>
              <a:t>Healthkathon 2026  ·  Detect Smarter, Protect JKN</a:t>
            </a:r>
          </a:p>
        </p:txBody>
      </p:sp>
      <p:sp>
        <p:nvSpPr>
          <p:cNvPr id="6" name="TextBox 5"/>
          <p:cNvSpPr txBox="1"/>
          <p:nvPr/>
        </p:nvSpPr>
        <p:spPr>
          <a:xfrm>
            <a:off x="457200" y="960120"/>
            <a:ext cx="11247120" cy="1188720"/>
          </a:xfrm>
          <a:prstGeom prst="rect">
            <a:avLst/>
          </a:prstGeom>
          <a:noFill/>
        </p:spPr>
        <p:txBody>
          <a:bodyPr wrap="square" anchor="t" lIns="0" rIns="0" tIns="0" bIns="0">
            <a:spAutoFit/>
          </a:bodyPr>
          <a:lstStyle/>
          <a:p>
            <a:pPr algn="l">
              <a:spcAft>
                <a:spcPts val="600"/>
              </a:spcAft>
            </a:pPr>
            <a:r>
              <a:rPr sz="3600" b="1">
                <a:solidFill>
                  <a:srgbClr val="FFFFFF"/>
                </a:solidFill>
                <a:latin typeface="IBM Plex Sans"/>
              </a:rPr>
              <a:t>Terima kasih</a:t>
            </a:r>
          </a:p>
        </p:txBody>
      </p:sp>
      <p:sp>
        <p:nvSpPr>
          <p:cNvPr id="7" name="TextBox 6"/>
          <p:cNvSpPr txBox="1"/>
          <p:nvPr/>
        </p:nvSpPr>
        <p:spPr>
          <a:xfrm>
            <a:off x="11155680" y="6400800"/>
            <a:ext cx="640080" cy="274320"/>
          </a:xfrm>
          <a:prstGeom prst="rect">
            <a:avLst/>
          </a:prstGeom>
          <a:noFill/>
        </p:spPr>
        <p:txBody>
          <a:bodyPr wrap="square" anchor="t" lIns="0" rIns="0" tIns="0" bIns="0">
            <a:spAutoFit/>
          </a:bodyPr>
          <a:lstStyle/>
          <a:p>
            <a:pPr algn="r">
              <a:spcAft>
                <a:spcPts val="600"/>
              </a:spcAft>
            </a:pPr>
            <a:r>
              <a:rPr sz="1400" b="0">
                <a:solidFill>
                  <a:srgbClr val="EDF2EF"/>
                </a:solidFill>
                <a:latin typeface="IBM Plex Sans"/>
              </a:rPr>
              <a:t>13</a:t>
            </a:r>
          </a:p>
        </p:txBody>
      </p:sp>
      <p:sp>
        <p:nvSpPr>
          <p:cNvPr id="8" name="TextBox 7"/>
          <p:cNvSpPr txBox="1"/>
          <p:nvPr/>
        </p:nvSpPr>
        <p:spPr>
          <a:xfrm>
            <a:off x="457200" y="2286000"/>
            <a:ext cx="7315200" cy="457200"/>
          </a:xfrm>
          <a:prstGeom prst="rect">
            <a:avLst/>
          </a:prstGeom>
          <a:noFill/>
        </p:spPr>
        <p:txBody>
          <a:bodyPr wrap="square" anchor="t" lIns="0" rIns="0" tIns="0" bIns="0">
            <a:spAutoFit/>
          </a:bodyPr>
          <a:lstStyle/>
          <a:p>
            <a:pPr algn="l">
              <a:spcAft>
                <a:spcPts val="600"/>
              </a:spcAft>
            </a:pPr>
            <a:r>
              <a:rPr sz="1800" b="1">
                <a:solidFill>
                  <a:srgbClr val="EDF2EF"/>
                </a:solidFill>
                <a:latin typeface="IBM Plex Sans"/>
              </a:rPr>
              <a:t>Prototype</a:t>
            </a:r>
          </a:p>
        </p:txBody>
      </p:sp>
      <p:sp>
        <p:nvSpPr>
          <p:cNvPr id="9" name="TextBox 8"/>
          <p:cNvSpPr txBox="1"/>
          <p:nvPr/>
        </p:nvSpPr>
        <p:spPr>
          <a:xfrm>
            <a:off x="457200" y="2743200"/>
            <a:ext cx="7315200" cy="457200"/>
          </a:xfrm>
          <a:prstGeom prst="rect">
            <a:avLst/>
          </a:prstGeom>
          <a:noFill/>
        </p:spPr>
        <p:txBody>
          <a:bodyPr wrap="square" anchor="t" lIns="0" rIns="0" tIns="0" bIns="0">
            <a:spAutoFit/>
          </a:bodyPr>
          <a:lstStyle/>
          <a:p>
            <a:pPr algn="l">
              <a:spcAft>
                <a:spcPts val="600"/>
              </a:spcAft>
            </a:pPr>
            <a:r>
              <a:rPr sz="2000" b="0">
                <a:solidFill>
                  <a:srgbClr val="FFFFFF"/>
                </a:solidFill>
                <a:latin typeface="IBM Plex Sans"/>
              </a:rPr>
              <a:t>https://arsa-jkn-627843549213.asia-southeast2.run.app</a:t>
            </a:r>
          </a:p>
        </p:txBody>
      </p:sp>
      <p:sp>
        <p:nvSpPr>
          <p:cNvPr id="10" name="TextBox 9"/>
          <p:cNvSpPr txBox="1"/>
          <p:nvPr/>
        </p:nvSpPr>
        <p:spPr>
          <a:xfrm>
            <a:off x="457200" y="3474720"/>
            <a:ext cx="7315200" cy="457200"/>
          </a:xfrm>
          <a:prstGeom prst="rect">
            <a:avLst/>
          </a:prstGeom>
          <a:noFill/>
        </p:spPr>
        <p:txBody>
          <a:bodyPr wrap="square" anchor="t" lIns="0" rIns="0" tIns="0" bIns="0">
            <a:spAutoFit/>
          </a:bodyPr>
          <a:lstStyle/>
          <a:p>
            <a:pPr algn="l">
              <a:spcAft>
                <a:spcPts val="600"/>
              </a:spcAft>
            </a:pPr>
            <a:r>
              <a:rPr sz="1800" b="1">
                <a:solidFill>
                  <a:srgbClr val="EDF2EF"/>
                </a:solidFill>
                <a:latin typeface="IBM Plex Sans"/>
              </a:rPr>
              <a:t>Repositori</a:t>
            </a:r>
          </a:p>
        </p:txBody>
      </p:sp>
      <p:sp>
        <p:nvSpPr>
          <p:cNvPr id="11" name="TextBox 10"/>
          <p:cNvSpPr txBox="1"/>
          <p:nvPr/>
        </p:nvSpPr>
        <p:spPr>
          <a:xfrm>
            <a:off x="457200" y="3931920"/>
            <a:ext cx="7315200" cy="457200"/>
          </a:xfrm>
          <a:prstGeom prst="rect">
            <a:avLst/>
          </a:prstGeom>
          <a:noFill/>
        </p:spPr>
        <p:txBody>
          <a:bodyPr wrap="square" anchor="t" lIns="0" rIns="0" tIns="0" bIns="0">
            <a:spAutoFit/>
          </a:bodyPr>
          <a:lstStyle/>
          <a:p>
            <a:pPr algn="l">
              <a:spcAft>
                <a:spcPts val="600"/>
              </a:spcAft>
            </a:pPr>
            <a:r>
              <a:rPr sz="2000" b="0">
                <a:solidFill>
                  <a:srgbClr val="FFFFFF"/>
                </a:solidFill>
                <a:latin typeface="IBM Plex Sans"/>
              </a:rPr>
              <a:t>https://github.com/mocharil/jkn-risk-intelligence</a:t>
            </a:r>
          </a:p>
        </p:txBody>
      </p:sp>
      <p:sp>
        <p:nvSpPr>
          <p:cNvPr id="12" name="TextBox 11"/>
          <p:cNvSpPr txBox="1"/>
          <p:nvPr/>
        </p:nvSpPr>
        <p:spPr>
          <a:xfrm>
            <a:off x="457200" y="4663440"/>
            <a:ext cx="7315200" cy="457200"/>
          </a:xfrm>
          <a:prstGeom prst="rect">
            <a:avLst/>
          </a:prstGeom>
          <a:noFill/>
        </p:spPr>
        <p:txBody>
          <a:bodyPr wrap="square" anchor="t" lIns="0" rIns="0" tIns="0" bIns="0">
            <a:spAutoFit/>
          </a:bodyPr>
          <a:lstStyle/>
          <a:p>
            <a:pPr algn="l">
              <a:spcAft>
                <a:spcPts val="600"/>
              </a:spcAft>
            </a:pPr>
            <a:r>
              <a:rPr sz="1800" b="1">
                <a:solidFill>
                  <a:srgbClr val="EDF2EF"/>
                </a:solidFill>
                <a:latin typeface="IBM Plex Sans"/>
              </a:rPr>
              <a:t>Kontak</a:t>
            </a:r>
          </a:p>
        </p:txBody>
      </p:sp>
      <p:sp>
        <p:nvSpPr>
          <p:cNvPr id="13" name="TextBox 12"/>
          <p:cNvSpPr txBox="1"/>
          <p:nvPr/>
        </p:nvSpPr>
        <p:spPr>
          <a:xfrm>
            <a:off x="457200" y="5120640"/>
            <a:ext cx="7315200" cy="457200"/>
          </a:xfrm>
          <a:prstGeom prst="rect">
            <a:avLst/>
          </a:prstGeom>
          <a:noFill/>
        </p:spPr>
        <p:txBody>
          <a:bodyPr wrap="square" anchor="t" lIns="0" rIns="0" tIns="0" bIns="0">
            <a:spAutoFit/>
          </a:bodyPr>
          <a:lstStyle/>
          <a:p>
            <a:pPr algn="l">
              <a:spcAft>
                <a:spcPts val="600"/>
              </a:spcAft>
            </a:pPr>
            <a:r>
              <a:rPr sz="2000" b="0">
                <a:solidFill>
                  <a:srgbClr val="FFFFFF"/>
                </a:solidFill>
                <a:latin typeface="IBM Plex Sans"/>
              </a:rPr>
              <a:t>[nama ketua tim]  ·  [email]</a:t>
            </a:r>
          </a:p>
        </p:txBody>
      </p:sp>
      <p:sp>
        <p:nvSpPr>
          <p:cNvPr id="14" name="Rectangle 13"/>
          <p:cNvSpPr/>
          <p:nvPr/>
        </p:nvSpPr>
        <p:spPr>
          <a:xfrm>
            <a:off x="8778240" y="2286000"/>
            <a:ext cx="2743200" cy="2743200"/>
          </a:xfrm>
          <a:prstGeom prst="rect">
            <a:avLst/>
          </a:prstGeom>
          <a:solidFill>
            <a:srgbClr val="ED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0" y="2286000"/>
            <a:ext cx="2743200" cy="2743200"/>
          </a:xfrm>
          <a:prstGeom prst="rect">
            <a:avLst/>
          </a:prstGeom>
          <a:noFill/>
        </p:spPr>
        <p:txBody>
          <a:bodyPr wrap="square" anchor="ctr" lIns="0" rIns="0" tIns="0" bIns="0">
            <a:spAutoFit/>
          </a:bodyPr>
          <a:lstStyle/>
          <a:p>
            <a:pPr algn="ctr">
              <a:spcAft>
                <a:spcPts val="600"/>
              </a:spcAft>
            </a:pPr>
            <a:r>
              <a:rPr sz="1600" b="0">
                <a:solidFill>
                  <a:srgbClr val="475B53"/>
                </a:solidFill>
                <a:latin typeface="IBM Plex Sans"/>
              </a:rPr>
              <a:t>Tempel QR
ke tautan prototype</a:t>
            </a:r>
          </a:p>
        </p:txBody>
      </p:sp>
      <p:sp>
        <p:nvSpPr>
          <p:cNvPr id="16" name="TextBox 15"/>
          <p:cNvSpPr txBox="1"/>
          <p:nvPr/>
        </p:nvSpPr>
        <p:spPr>
          <a:xfrm>
            <a:off x="457200" y="5943600"/>
            <a:ext cx="10972800" cy="457200"/>
          </a:xfrm>
          <a:prstGeom prst="rect">
            <a:avLst/>
          </a:prstGeom>
          <a:noFill/>
        </p:spPr>
        <p:txBody>
          <a:bodyPr wrap="square" anchor="t" lIns="0" rIns="0" tIns="0" bIns="0">
            <a:spAutoFit/>
          </a:bodyPr>
          <a:lstStyle/>
          <a:p>
            <a:pPr algn="l">
              <a:spcAft>
                <a:spcPts val="600"/>
              </a:spcAft>
            </a:pPr>
            <a:r>
              <a:rPr sz="1800" b="0">
                <a:solidFill>
                  <a:srgbClr val="EDF2EF"/>
                </a:solidFill>
                <a:latin typeface="IBM Plex Sans"/>
              </a:rPr>
              <a:t>Arsa AI tidak menggantikan verifikator. Ia membuktikan klaim mana yang layak diperiksa.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